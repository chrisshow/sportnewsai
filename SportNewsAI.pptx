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7882" y="-48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show.github.io/SportNewsA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5B9C7976-BC4A-AF22-6508-EA29C1F8972E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33EF7AF-C643-D286-16B1-9D3E353D1FFA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1FDCC0B2-D84C-4E58-C745-92721A829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AA6795D-3640-BFB1-9937-44C739120620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2F2C2CC-4393-CE01-9B70-23A61B756144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7063AE-C4D5-C427-46A9-F575B426BF0C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8B071F-673F-7C83-AC54-E6AF5322CCBF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EF565DA1-914D-097C-6F19-DFAB88E886AA}"/>
              </a:ext>
            </a:extLst>
          </p:cNvPr>
          <p:cNvSpPr txBox="1"/>
          <p:nvPr/>
        </p:nvSpPr>
        <p:spPr>
          <a:xfrm>
            <a:off x="640016" y="2711944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 err="1">
                <a:solidFill>
                  <a:srgbClr val="1F4E79"/>
                </a:solidFill>
              </a:rPr>
              <a:t>SportNewsAI</a:t>
            </a:r>
            <a:endParaRPr sz="4400" b="1" i="0" dirty="0">
              <a:solidFill>
                <a:srgbClr val="1F4E79"/>
              </a:solidFill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4F07510-8234-44F8-7CFB-845C74B39155}"/>
              </a:ext>
            </a:extLst>
          </p:cNvPr>
          <p:cNvSpPr txBox="1"/>
          <p:nvPr/>
        </p:nvSpPr>
        <p:spPr>
          <a:xfrm>
            <a:off x="640016" y="3717784"/>
            <a:ext cx="10908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1" dirty="0">
                <a:solidFill>
                  <a:srgbClr val="555555"/>
                </a:solidFill>
              </a:rPr>
              <a:t>Un </a:t>
            </a:r>
            <a:r>
              <a:rPr lang="en-US" sz="2000" b="0" i="1" dirty="0" err="1">
                <a:solidFill>
                  <a:srgbClr val="555555"/>
                </a:solidFill>
              </a:rPr>
              <a:t>classificatore</a:t>
            </a:r>
            <a:r>
              <a:rPr lang="en-US" sz="2000" b="0" i="1" dirty="0">
                <a:solidFill>
                  <a:srgbClr val="555555"/>
                </a:solidFill>
              </a:rPr>
              <a:t> </a:t>
            </a:r>
            <a:r>
              <a:rPr lang="en-US" sz="2000" b="0" i="1" dirty="0" err="1">
                <a:solidFill>
                  <a:srgbClr val="555555"/>
                </a:solidFill>
              </a:rPr>
              <a:t>automatico</a:t>
            </a:r>
            <a:r>
              <a:rPr lang="en-US" sz="2000" b="0" i="1" dirty="0">
                <a:solidFill>
                  <a:srgbClr val="555555"/>
                </a:solidFill>
              </a:rPr>
              <a:t> di </a:t>
            </a:r>
            <a:r>
              <a:rPr lang="en-US" sz="2000" b="0" i="1" dirty="0" err="1">
                <a:solidFill>
                  <a:srgbClr val="555555"/>
                </a:solidFill>
              </a:rPr>
              <a:t>articoli</a:t>
            </a:r>
            <a:r>
              <a:rPr lang="en-US" sz="2000" b="0" i="1" dirty="0">
                <a:solidFill>
                  <a:srgbClr val="555555"/>
                </a:solidFill>
              </a:rPr>
              <a:t> </a:t>
            </a:r>
            <a:r>
              <a:rPr lang="en-US" sz="2000" b="0" i="1" dirty="0" err="1">
                <a:solidFill>
                  <a:srgbClr val="555555"/>
                </a:solidFill>
              </a:rPr>
              <a:t>giornalistici</a:t>
            </a:r>
            <a:r>
              <a:rPr lang="en-US" sz="2000" b="0" i="1" dirty="0">
                <a:solidFill>
                  <a:srgbClr val="555555"/>
                </a:solidFill>
              </a:rPr>
              <a:t> </a:t>
            </a:r>
            <a:r>
              <a:rPr lang="en-US" sz="2000" b="0" i="1" dirty="0" err="1">
                <a:solidFill>
                  <a:srgbClr val="555555"/>
                </a:solidFill>
              </a:rPr>
              <a:t>sportivi</a:t>
            </a:r>
            <a:endParaRPr sz="2000" b="0" i="1" dirty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C24AE-8F16-318B-D34C-686777E8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C1E7177E-C317-9A0B-8CA7-DB45A2024529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9F90231-CD89-4C85-3FCE-FB242DD3C965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77BC8D81-EDD4-B4E1-B139-D77D57F92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24FBD85-2E46-B30A-A4E1-34F95D9AF0F1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5D2F17-D76C-6FF3-7CD7-A91A53582ED9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54C38A6-5182-0233-F202-3BA07AC5C256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987E9C3-9D37-A420-BF2F-27D185CEC0FB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9D5F82-11B9-5926-ECE5-C954566AFC43}"/>
              </a:ext>
            </a:extLst>
          </p:cNvPr>
          <p:cNvSpPr txBox="1"/>
          <p:nvPr/>
        </p:nvSpPr>
        <p:spPr>
          <a:xfrm>
            <a:off x="405356" y="1518284"/>
            <a:ext cx="3416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F4E79"/>
                </a:solidFill>
              </a:rPr>
              <a:t>Problema</a:t>
            </a:r>
            <a:r>
              <a:rPr sz="2800" b="1" i="0" dirty="0">
                <a:solidFill>
                  <a:srgbClr val="1F4E79"/>
                </a:solidFill>
              </a:rPr>
              <a:t> e </a:t>
            </a:r>
            <a:r>
              <a:rPr sz="2800" b="1" i="0" dirty="0" err="1">
                <a:solidFill>
                  <a:srgbClr val="1F4E79"/>
                </a:solidFill>
              </a:rPr>
              <a:t>obiettivo</a:t>
            </a:r>
            <a:r>
              <a:rPr lang="en-US" sz="2800" b="1" i="0" dirty="0">
                <a:solidFill>
                  <a:srgbClr val="1F4E79"/>
                </a:solidFill>
              </a:rPr>
              <a:t>:</a:t>
            </a:r>
            <a:endParaRPr sz="2800" b="1" i="0" dirty="0">
              <a:solidFill>
                <a:srgbClr val="1F4E79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C847403-5A98-FB54-7FD9-D7E6C72C8DE7}"/>
              </a:ext>
            </a:extLst>
          </p:cNvPr>
          <p:cNvSpPr txBox="1"/>
          <p:nvPr/>
        </p:nvSpPr>
        <p:spPr>
          <a:xfrm>
            <a:off x="4120616" y="1456728"/>
            <a:ext cx="7489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1A1A1A"/>
                </a:solidFill>
              </a:rPr>
              <a:t>Dato un </a:t>
            </a:r>
            <a:r>
              <a:rPr b="0" i="0" dirty="0" err="1">
                <a:solidFill>
                  <a:srgbClr val="1A1A1A"/>
                </a:solidFill>
              </a:rPr>
              <a:t>articolo</a:t>
            </a:r>
            <a:r>
              <a:rPr b="0" i="0" dirty="0">
                <a:solidFill>
                  <a:srgbClr val="1A1A1A"/>
                </a:solidFill>
              </a:rPr>
              <a:t> </a:t>
            </a:r>
            <a:r>
              <a:rPr b="0" i="0" dirty="0" err="1">
                <a:solidFill>
                  <a:srgbClr val="1A1A1A"/>
                </a:solidFill>
              </a:rPr>
              <a:t>giornalistico</a:t>
            </a:r>
            <a:r>
              <a:rPr b="0" i="0" dirty="0">
                <a:solidFill>
                  <a:srgbClr val="1A1A1A"/>
                </a:solidFill>
              </a:rPr>
              <a:t> </a:t>
            </a:r>
            <a:r>
              <a:rPr b="0" i="0" dirty="0" err="1">
                <a:solidFill>
                  <a:srgbClr val="1A1A1A"/>
                </a:solidFill>
              </a:rPr>
              <a:t>sportivo</a:t>
            </a:r>
            <a:r>
              <a:rPr b="0" i="0" dirty="0">
                <a:solidFill>
                  <a:srgbClr val="1A1A1A"/>
                </a:solidFill>
              </a:rPr>
              <a:t> in lingua inglese, </a:t>
            </a:r>
            <a:r>
              <a:rPr b="0" i="0" dirty="0" err="1">
                <a:solidFill>
                  <a:srgbClr val="1A1A1A"/>
                </a:solidFill>
              </a:rPr>
              <a:t>assegnarlo</a:t>
            </a:r>
            <a:r>
              <a:rPr b="0" i="0" dirty="0">
                <a:solidFill>
                  <a:srgbClr val="1A1A1A"/>
                </a:solidFill>
              </a:rPr>
              <a:t> </a:t>
            </a:r>
            <a:r>
              <a:rPr b="0" i="0" dirty="0" err="1">
                <a:solidFill>
                  <a:srgbClr val="1A1A1A"/>
                </a:solidFill>
              </a:rPr>
              <a:t>automaticamente</a:t>
            </a:r>
            <a:r>
              <a:rPr b="0" i="0" dirty="0">
                <a:solidFill>
                  <a:srgbClr val="1A1A1A"/>
                </a:solidFill>
              </a:rPr>
              <a:t> a </a:t>
            </a:r>
            <a:r>
              <a:rPr b="0" i="0" dirty="0" err="1">
                <a:solidFill>
                  <a:srgbClr val="1A1A1A"/>
                </a:solidFill>
              </a:rPr>
              <a:t>una</a:t>
            </a:r>
            <a:r>
              <a:rPr b="0" i="0" dirty="0">
                <a:solidFill>
                  <a:srgbClr val="1A1A1A"/>
                </a:solidFill>
              </a:rPr>
              <a:t> delle 7 </a:t>
            </a:r>
            <a:r>
              <a:rPr b="0" i="0" dirty="0" err="1">
                <a:solidFill>
                  <a:srgbClr val="1A1A1A"/>
                </a:solidFill>
              </a:rPr>
              <a:t>categorie</a:t>
            </a:r>
            <a:r>
              <a:rPr lang="en-US" b="0" i="0" dirty="0">
                <a:solidFill>
                  <a:srgbClr val="1A1A1A"/>
                </a:solidFill>
              </a:rPr>
              <a:t> </a:t>
            </a:r>
            <a:r>
              <a:rPr lang="en-US" b="0" i="0" dirty="0" err="1">
                <a:solidFill>
                  <a:srgbClr val="1A1A1A"/>
                </a:solidFill>
              </a:rPr>
              <a:t>previste</a:t>
            </a:r>
            <a:r>
              <a:rPr b="0" i="0" dirty="0">
                <a:solidFill>
                  <a:srgbClr val="1A1A1A"/>
                </a:solidFill>
              </a:rPr>
              <a:t> senza </a:t>
            </a:r>
            <a:r>
              <a:rPr b="0" i="0" dirty="0" err="1">
                <a:solidFill>
                  <a:srgbClr val="1A1A1A"/>
                </a:solidFill>
              </a:rPr>
              <a:t>supervisione</a:t>
            </a:r>
            <a:r>
              <a:rPr b="0" i="0" dirty="0">
                <a:solidFill>
                  <a:srgbClr val="1A1A1A"/>
                </a:solidFill>
              </a:rPr>
              <a:t> </a:t>
            </a:r>
            <a:r>
              <a:rPr b="0" i="0" dirty="0" err="1">
                <a:solidFill>
                  <a:srgbClr val="1A1A1A"/>
                </a:solidFill>
              </a:rPr>
              <a:t>umana</a:t>
            </a:r>
            <a:r>
              <a:rPr b="0" i="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613A2D7F-C821-83F3-9034-F2AF79EF644C}"/>
              </a:ext>
            </a:extLst>
          </p:cNvPr>
          <p:cNvSpPr txBox="1"/>
          <p:nvPr/>
        </p:nvSpPr>
        <p:spPr>
          <a:xfrm>
            <a:off x="405355" y="3058169"/>
            <a:ext cx="3416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 err="1">
                <a:solidFill>
                  <a:srgbClr val="1F4E79"/>
                </a:solidFill>
              </a:rPr>
              <a:t>Categorie</a:t>
            </a:r>
            <a:r>
              <a:rPr lang="en-US" sz="2800" b="1" i="0" dirty="0">
                <a:solidFill>
                  <a:srgbClr val="1F4E79"/>
                </a:solidFill>
              </a:rPr>
              <a:t> </a:t>
            </a:r>
            <a:r>
              <a:rPr lang="en-US" sz="2800" b="1" i="0" dirty="0" err="1">
                <a:solidFill>
                  <a:srgbClr val="1F4E79"/>
                </a:solidFill>
              </a:rPr>
              <a:t>previste</a:t>
            </a:r>
            <a:r>
              <a:rPr lang="en-US" sz="2800" b="1" i="0" dirty="0">
                <a:solidFill>
                  <a:srgbClr val="1F4E79"/>
                </a:solidFill>
              </a:rPr>
              <a:t>:</a:t>
            </a:r>
            <a:endParaRPr sz="2800" b="1" i="0" dirty="0">
              <a:solidFill>
                <a:srgbClr val="1F4E79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0AA6326-700E-EC87-A8EC-7CBDB06B0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392609"/>
              </p:ext>
            </p:extLst>
          </p:nvPr>
        </p:nvGraphicFramePr>
        <p:xfrm>
          <a:off x="3657590" y="3134359"/>
          <a:ext cx="81258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840">
                  <a:extLst>
                    <a:ext uri="{9D8B030D-6E8A-4147-A177-3AD203B41FA5}">
                      <a16:colId xmlns:a16="http://schemas.microsoft.com/office/drawing/2014/main" val="1905085489"/>
                    </a:ext>
                  </a:extLst>
                </a:gridCol>
                <a:gridCol w="1160840">
                  <a:extLst>
                    <a:ext uri="{9D8B030D-6E8A-4147-A177-3AD203B41FA5}">
                      <a16:colId xmlns:a16="http://schemas.microsoft.com/office/drawing/2014/main" val="284185641"/>
                    </a:ext>
                  </a:extLst>
                </a:gridCol>
                <a:gridCol w="1160840">
                  <a:extLst>
                    <a:ext uri="{9D8B030D-6E8A-4147-A177-3AD203B41FA5}">
                      <a16:colId xmlns:a16="http://schemas.microsoft.com/office/drawing/2014/main" val="1035488180"/>
                    </a:ext>
                  </a:extLst>
                </a:gridCol>
                <a:gridCol w="1160840">
                  <a:extLst>
                    <a:ext uri="{9D8B030D-6E8A-4147-A177-3AD203B41FA5}">
                      <a16:colId xmlns:a16="http://schemas.microsoft.com/office/drawing/2014/main" val="1124669341"/>
                    </a:ext>
                  </a:extLst>
                </a:gridCol>
                <a:gridCol w="1160840">
                  <a:extLst>
                    <a:ext uri="{9D8B030D-6E8A-4147-A177-3AD203B41FA5}">
                      <a16:colId xmlns:a16="http://schemas.microsoft.com/office/drawing/2014/main" val="2877156492"/>
                    </a:ext>
                  </a:extLst>
                </a:gridCol>
                <a:gridCol w="1160840">
                  <a:extLst>
                    <a:ext uri="{9D8B030D-6E8A-4147-A177-3AD203B41FA5}">
                      <a16:colId xmlns:a16="http://schemas.microsoft.com/office/drawing/2014/main" val="755729756"/>
                    </a:ext>
                  </a:extLst>
                </a:gridCol>
                <a:gridCol w="1160840">
                  <a:extLst>
                    <a:ext uri="{9D8B030D-6E8A-4147-A177-3AD203B41FA5}">
                      <a16:colId xmlns:a16="http://schemas.microsoft.com/office/drawing/2014/main" val="3756187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Soccer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Tennis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Basketball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Rugby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Baseball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Golf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Formula1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346388"/>
                  </a:ext>
                </a:extLst>
              </a:tr>
            </a:tbl>
          </a:graphicData>
        </a:graphic>
      </p:graphicFrame>
      <p:grpSp>
        <p:nvGrpSpPr>
          <p:cNvPr id="16" name="Gruppo 15">
            <a:extLst>
              <a:ext uri="{FF2B5EF4-FFF2-40B4-BE49-F238E27FC236}">
                <a16:creationId xmlns:a16="http://schemas.microsoft.com/office/drawing/2014/main" id="{D57A631F-FA6E-30DE-2329-8EF70467598E}"/>
              </a:ext>
            </a:extLst>
          </p:cNvPr>
          <p:cNvGrpSpPr/>
          <p:nvPr/>
        </p:nvGrpSpPr>
        <p:grpSpPr>
          <a:xfrm>
            <a:off x="405356" y="4499333"/>
            <a:ext cx="11378115" cy="1015663"/>
            <a:chOff x="405354" y="3879173"/>
            <a:chExt cx="11378115" cy="1015663"/>
          </a:xfrm>
        </p:grpSpPr>
        <p:sp>
          <p:nvSpPr>
            <p:cNvPr id="6" name="TextBox 1">
              <a:extLst>
                <a:ext uri="{FF2B5EF4-FFF2-40B4-BE49-F238E27FC236}">
                  <a16:creationId xmlns:a16="http://schemas.microsoft.com/office/drawing/2014/main" id="{959349DA-E2D2-1FC5-AD42-07666D3BBE02}"/>
                </a:ext>
              </a:extLst>
            </p:cNvPr>
            <p:cNvSpPr txBox="1"/>
            <p:nvPr/>
          </p:nvSpPr>
          <p:spPr>
            <a:xfrm>
              <a:off x="405354" y="4125395"/>
              <a:ext cx="34166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800" b="1" i="0" dirty="0" err="1">
                  <a:solidFill>
                    <a:srgbClr val="1F4E79"/>
                  </a:solidFill>
                </a:rPr>
                <a:t>Motivazioni</a:t>
              </a:r>
              <a:r>
                <a:rPr lang="en-US" sz="2800" b="1" i="0" dirty="0">
                  <a:solidFill>
                    <a:srgbClr val="1F4E79"/>
                  </a:solidFill>
                </a:rPr>
                <a:t>:</a:t>
              </a:r>
              <a:endParaRPr sz="2800" b="1" i="0" dirty="0">
                <a:solidFill>
                  <a:srgbClr val="1F4E79"/>
                </a:solidFill>
              </a:endParaRPr>
            </a:p>
          </p:txBody>
        </p:sp>
        <p:sp>
          <p:nvSpPr>
            <p:cNvPr id="15" name="TextBox 3">
              <a:extLst>
                <a:ext uri="{FF2B5EF4-FFF2-40B4-BE49-F238E27FC236}">
                  <a16:creationId xmlns:a16="http://schemas.microsoft.com/office/drawing/2014/main" id="{450E53DF-5A34-C292-BCE7-6AD6551B8F65}"/>
                </a:ext>
              </a:extLst>
            </p:cNvPr>
            <p:cNvSpPr txBox="1"/>
            <p:nvPr/>
          </p:nvSpPr>
          <p:spPr>
            <a:xfrm>
              <a:off x="2920466" y="3879173"/>
              <a:ext cx="886300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2000" b="0" i="0" dirty="0">
                  <a:solidFill>
                    <a:srgbClr val="1A1A1A"/>
                  </a:solidFill>
                </a:rPr>
                <a:t>Articoli sportivi presentano vocabolario altamente specializzato per categoria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2000" b="0" i="0" dirty="0">
                  <a:solidFill>
                    <a:srgbClr val="1A1A1A"/>
                  </a:solidFill>
                </a:rPr>
                <a:t>Separabilità semantica elevata → spazio TF-IDF linearmente separabile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2000" b="0" i="0" dirty="0">
                  <a:solidFill>
                    <a:srgbClr val="1A1A1A"/>
                  </a:solidFill>
                </a:rPr>
                <a:t>Caso di studio controllato: 7 classi ben definite, distribuzione bilanciata</a:t>
              </a:r>
              <a:endParaRPr sz="2000" b="0" i="0" dirty="0">
                <a:solidFill>
                  <a:srgbClr val="1A1A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194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DDCE-801D-ACF9-A842-4E8798E8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CEA3B1F2-5C92-82AC-5786-FC8859C980F3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6FF3C32-C396-4B68-1BCA-87ECA3B15B0B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03E73A64-1F82-20D4-3877-EE75F8352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E1120D0-180E-C41B-3376-054538040A14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9BC0E13-1391-2FB2-9852-396E5BBDEE79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69A031B-FF4B-03B0-895C-67376F69BB52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F0B3236-8DC3-2808-1C99-08C3D6C70F5B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7F00B0-0A6C-7DE0-F3B1-B537C51C1FC2}"/>
              </a:ext>
            </a:extLst>
          </p:cNvPr>
          <p:cNvSpPr txBox="1"/>
          <p:nvPr/>
        </p:nvSpPr>
        <p:spPr>
          <a:xfrm>
            <a:off x="1856840" y="1253740"/>
            <a:ext cx="99266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1A1A1A"/>
                </a:solidFill>
              </a:rPr>
              <a:t>Per la </a:t>
            </a:r>
            <a:r>
              <a:rPr lang="en-US" b="0" i="0" dirty="0" err="1">
                <a:solidFill>
                  <a:srgbClr val="1A1A1A"/>
                </a:solidFill>
              </a:rPr>
              <a:t>creazione</a:t>
            </a:r>
            <a:r>
              <a:rPr lang="en-US" b="0" i="0" dirty="0">
                <a:solidFill>
                  <a:srgbClr val="1A1A1A"/>
                </a:solidFill>
              </a:rPr>
              <a:t> del dataset </a:t>
            </a:r>
            <a:r>
              <a:rPr lang="en-US" b="0" i="0" dirty="0" err="1">
                <a:solidFill>
                  <a:srgbClr val="1A1A1A"/>
                </a:solidFill>
              </a:rPr>
              <a:t>si</a:t>
            </a:r>
            <a:r>
              <a:rPr lang="en-US" b="0" i="0" dirty="0">
                <a:solidFill>
                  <a:srgbClr val="1A1A1A"/>
                </a:solidFill>
              </a:rPr>
              <a:t> è </a:t>
            </a:r>
            <a:r>
              <a:rPr lang="en-US" b="0" i="0" dirty="0" err="1">
                <a:solidFill>
                  <a:srgbClr val="1A1A1A"/>
                </a:solidFill>
              </a:rPr>
              <a:t>sfruttato</a:t>
            </a:r>
            <a:r>
              <a:rPr lang="en-US" b="0" i="0" dirty="0">
                <a:solidFill>
                  <a:srgbClr val="1A1A1A"/>
                </a:solidFill>
              </a:rPr>
              <a:t> il piano </a:t>
            </a:r>
            <a:r>
              <a:rPr lang="en-US" b="0" i="0" dirty="0" err="1">
                <a:solidFill>
                  <a:srgbClr val="1A1A1A"/>
                </a:solidFill>
              </a:rPr>
              <a:t>gratuito</a:t>
            </a:r>
            <a:r>
              <a:rPr lang="en-US" b="0" i="0" dirty="0">
                <a:solidFill>
                  <a:srgbClr val="1A1A1A"/>
                </a:solidFill>
              </a:rPr>
              <a:t> delle API della </a:t>
            </a:r>
            <a:r>
              <a:rPr lang="en-US" b="0" i="0" dirty="0" err="1">
                <a:solidFill>
                  <a:srgbClr val="1A1A1A"/>
                </a:solidFill>
              </a:rPr>
              <a:t>piattaforma</a:t>
            </a:r>
            <a:r>
              <a:rPr lang="en-US" b="0" i="0" dirty="0">
                <a:solidFill>
                  <a:srgbClr val="1A1A1A"/>
                </a:solidFill>
              </a:rPr>
              <a:t> </a:t>
            </a:r>
            <a:r>
              <a:rPr lang="en-US" b="0" i="1" dirty="0">
                <a:solidFill>
                  <a:srgbClr val="1A1A1A"/>
                </a:solidFill>
              </a:rPr>
              <a:t>Gnews.io</a:t>
            </a:r>
            <a:r>
              <a:rPr lang="en-US" b="0" dirty="0">
                <a:solidFill>
                  <a:srgbClr val="1A1A1A"/>
                </a:solidFill>
              </a:rPr>
              <a:t>, un </a:t>
            </a:r>
            <a:r>
              <a:rPr lang="en-US" b="0" dirty="0" err="1">
                <a:solidFill>
                  <a:srgbClr val="1A1A1A"/>
                </a:solidFill>
              </a:rPr>
              <a:t>aggregatore</a:t>
            </a:r>
            <a:r>
              <a:rPr lang="en-US" b="0" dirty="0">
                <a:solidFill>
                  <a:srgbClr val="1A1A1A"/>
                </a:solidFill>
              </a:rPr>
              <a:t> di </a:t>
            </a:r>
            <a:r>
              <a:rPr lang="en-US" b="0" dirty="0" err="1">
                <a:solidFill>
                  <a:srgbClr val="1A1A1A"/>
                </a:solidFill>
              </a:rPr>
              <a:t>notizie</a:t>
            </a:r>
            <a:r>
              <a:rPr lang="en-US" b="0" dirty="0">
                <a:solidFill>
                  <a:srgbClr val="1A1A1A"/>
                </a:solidFill>
              </a:rPr>
              <a:t> </a:t>
            </a:r>
            <a:r>
              <a:rPr lang="en-US" b="0" dirty="0" err="1">
                <a:solidFill>
                  <a:srgbClr val="1A1A1A"/>
                </a:solidFill>
              </a:rPr>
              <a:t>che</a:t>
            </a:r>
            <a:r>
              <a:rPr lang="en-US" b="0" dirty="0">
                <a:solidFill>
                  <a:srgbClr val="1A1A1A"/>
                </a:solidFill>
              </a:rPr>
              <a:t> </a:t>
            </a:r>
            <a:r>
              <a:rPr lang="en-US" b="0" dirty="0" err="1">
                <a:solidFill>
                  <a:srgbClr val="1A1A1A"/>
                </a:solidFill>
              </a:rPr>
              <a:t>mette</a:t>
            </a:r>
            <a:r>
              <a:rPr lang="en-US" b="0" dirty="0">
                <a:solidFill>
                  <a:srgbClr val="1A1A1A"/>
                </a:solidFill>
              </a:rPr>
              <a:t> a </a:t>
            </a:r>
            <a:r>
              <a:rPr lang="en-US" b="0" dirty="0" err="1">
                <a:solidFill>
                  <a:srgbClr val="1A1A1A"/>
                </a:solidFill>
              </a:rPr>
              <a:t>disposizione</a:t>
            </a:r>
            <a:r>
              <a:rPr lang="en-US" b="0" dirty="0">
                <a:solidFill>
                  <a:srgbClr val="1A1A1A"/>
                </a:solidFill>
              </a:rPr>
              <a:t> degli </a:t>
            </a:r>
            <a:r>
              <a:rPr lang="en-US" b="0" dirty="0" err="1">
                <a:solidFill>
                  <a:srgbClr val="1A1A1A"/>
                </a:solidFill>
              </a:rPr>
              <a:t>utenti</a:t>
            </a:r>
            <a:r>
              <a:rPr lang="en-US" b="0" dirty="0">
                <a:solidFill>
                  <a:srgbClr val="1A1A1A"/>
                </a:solidFill>
              </a:rPr>
              <a:t> degli endpoint per la </a:t>
            </a:r>
            <a:r>
              <a:rPr lang="en-US" b="0" dirty="0" err="1">
                <a:solidFill>
                  <a:srgbClr val="1A1A1A"/>
                </a:solidFill>
              </a:rPr>
              <a:t>ricerca</a:t>
            </a:r>
            <a:r>
              <a:rPr lang="en-US" b="0" dirty="0">
                <a:solidFill>
                  <a:srgbClr val="1A1A1A"/>
                </a:solidFill>
              </a:rPr>
              <a:t> di </a:t>
            </a:r>
            <a:r>
              <a:rPr lang="en-US" b="0" dirty="0" err="1">
                <a:solidFill>
                  <a:srgbClr val="1A1A1A"/>
                </a:solidFill>
              </a:rPr>
              <a:t>articoli</a:t>
            </a:r>
            <a:r>
              <a:rPr lang="en-US" b="0" dirty="0">
                <a:solidFill>
                  <a:srgbClr val="1A1A1A"/>
                </a:solidFill>
              </a:rPr>
              <a:t> </a:t>
            </a:r>
            <a:r>
              <a:rPr lang="en-US" b="0" dirty="0" err="1">
                <a:solidFill>
                  <a:srgbClr val="1A1A1A"/>
                </a:solidFill>
              </a:rPr>
              <a:t>tramite</a:t>
            </a:r>
            <a:r>
              <a:rPr lang="en-US" b="0" dirty="0">
                <a:solidFill>
                  <a:srgbClr val="1A1A1A"/>
                </a:solidFill>
              </a:rPr>
              <a:t> il passaggio di un </a:t>
            </a:r>
            <a:r>
              <a:rPr lang="en-US" b="0" dirty="0" err="1">
                <a:solidFill>
                  <a:srgbClr val="1A1A1A"/>
                </a:solidFill>
              </a:rPr>
              <a:t>parametro</a:t>
            </a:r>
            <a:r>
              <a:rPr lang="en-US" b="0" dirty="0">
                <a:solidFill>
                  <a:srgbClr val="1A1A1A"/>
                </a:solidFill>
              </a:rPr>
              <a:t> di </a:t>
            </a:r>
            <a:r>
              <a:rPr lang="en-US" b="0" dirty="0" err="1">
                <a:solidFill>
                  <a:srgbClr val="1A1A1A"/>
                </a:solidFill>
              </a:rPr>
              <a:t>ricerca</a:t>
            </a:r>
            <a:r>
              <a:rPr lang="en-US" dirty="0">
                <a:solidFill>
                  <a:srgbClr val="1A1A1A"/>
                </a:solidFill>
              </a:rPr>
              <a:t>.</a:t>
            </a:r>
            <a:r>
              <a:rPr lang="en-US" b="0" i="1" dirty="0">
                <a:solidFill>
                  <a:srgbClr val="1A1A1A"/>
                </a:solidFill>
              </a:rPr>
              <a:t> </a:t>
            </a:r>
            <a:endParaRPr b="0" i="0" dirty="0">
              <a:solidFill>
                <a:srgbClr val="1A1A1A"/>
              </a:solidFill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9610CD0-4F5A-2B68-D571-0527FA8D903E}"/>
              </a:ext>
            </a:extLst>
          </p:cNvPr>
          <p:cNvSpPr txBox="1"/>
          <p:nvPr/>
        </p:nvSpPr>
        <p:spPr>
          <a:xfrm>
            <a:off x="260350" y="2539795"/>
            <a:ext cx="3416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 err="1">
                <a:solidFill>
                  <a:srgbClr val="1F4E79"/>
                </a:solidFill>
              </a:rPr>
              <a:t>Risultati</a:t>
            </a:r>
            <a:r>
              <a:rPr lang="en-US" sz="2800" b="1" i="0" dirty="0">
                <a:solidFill>
                  <a:srgbClr val="1F4E79"/>
                </a:solidFill>
              </a:rPr>
              <a:t>:</a:t>
            </a:r>
            <a:endParaRPr sz="2800" b="1" i="0" dirty="0">
              <a:solidFill>
                <a:srgbClr val="1F4E79"/>
              </a:solidFill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251560" y="1314814"/>
            <a:ext cx="1605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F4E79"/>
                </a:solidFill>
              </a:rPr>
              <a:t>Dataset</a:t>
            </a:r>
            <a:r>
              <a:rPr lang="en-US" sz="2800" b="1" i="0" dirty="0">
                <a:solidFill>
                  <a:srgbClr val="1F4E79"/>
                </a:solidFill>
              </a:rPr>
              <a:t>:</a:t>
            </a:r>
            <a:endParaRPr sz="2800" b="1" i="0" dirty="0">
              <a:solidFill>
                <a:srgbClr val="1F4E79"/>
              </a:solidFill>
            </a:endParaRPr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78F0C817-8D00-6424-9388-272A7255E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947458"/>
              </p:ext>
            </p:extLst>
          </p:nvPr>
        </p:nvGraphicFramePr>
        <p:xfrm>
          <a:off x="1968652" y="2464299"/>
          <a:ext cx="98148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704">
                  <a:extLst>
                    <a:ext uri="{9D8B030D-6E8A-4147-A177-3AD203B41FA5}">
                      <a16:colId xmlns:a16="http://schemas.microsoft.com/office/drawing/2014/main" val="2232287058"/>
                    </a:ext>
                  </a:extLst>
                </a:gridCol>
                <a:gridCol w="3174784">
                  <a:extLst>
                    <a:ext uri="{9D8B030D-6E8A-4147-A177-3AD203B41FA5}">
                      <a16:colId xmlns:a16="http://schemas.microsoft.com/office/drawing/2014/main" val="1180062204"/>
                    </a:ext>
                  </a:extLst>
                </a:gridCol>
                <a:gridCol w="1732624">
                  <a:extLst>
                    <a:ext uri="{9D8B030D-6E8A-4147-A177-3AD203B41FA5}">
                      <a16:colId xmlns:a16="http://schemas.microsoft.com/office/drawing/2014/main" val="1003205864"/>
                    </a:ext>
                  </a:extLst>
                </a:gridCol>
                <a:gridCol w="2453704">
                  <a:extLst>
                    <a:ext uri="{9D8B030D-6E8A-4147-A177-3AD203B41FA5}">
                      <a16:colId xmlns:a16="http://schemas.microsoft.com/office/drawing/2014/main" val="1725255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Articoli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totali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Periodo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coperto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Lingua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Distribuzione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211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3617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16/03/2026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22/04/2026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Inglese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413-743 per </a:t>
                      </a:r>
                      <a:r>
                        <a:rPr lang="en-US" dirty="0" err="1"/>
                        <a:t>categoria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610487"/>
                  </a:ext>
                </a:extLst>
              </a:tr>
            </a:tbl>
          </a:graphicData>
        </a:graphic>
      </p:graphicFrame>
      <p:sp>
        <p:nvSpPr>
          <p:cNvPr id="18" name="TextBox 1">
            <a:extLst>
              <a:ext uri="{FF2B5EF4-FFF2-40B4-BE49-F238E27FC236}">
                <a16:creationId xmlns:a16="http://schemas.microsoft.com/office/drawing/2014/main" id="{5E9CCE00-E9D2-A8C6-C9C8-6D7AFF5CA0A1}"/>
              </a:ext>
            </a:extLst>
          </p:cNvPr>
          <p:cNvSpPr txBox="1"/>
          <p:nvPr/>
        </p:nvSpPr>
        <p:spPr>
          <a:xfrm>
            <a:off x="260350" y="4518696"/>
            <a:ext cx="3416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F4E79"/>
                </a:solidFill>
              </a:rPr>
              <a:t>Distribuzione:</a:t>
            </a:r>
            <a:endParaRPr sz="2800" b="1" i="0" dirty="0">
              <a:solidFill>
                <a:srgbClr val="1F4E79"/>
              </a:solidFill>
            </a:endParaRPr>
          </a:p>
        </p:txBody>
      </p:sp>
      <p:pic>
        <p:nvPicPr>
          <p:cNvPr id="19" name="Picture 8" descr="distribuzione_artico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52" y="3473532"/>
            <a:ext cx="5790005" cy="2540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1069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A1F0-D016-C23A-6FAC-9D8E0908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CE5563DE-5650-B3AD-E633-BD92E7F39274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6AE49DF-64EA-964F-C689-33356D5E172C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1400FE19-5476-476B-1E94-B3BA421C7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3A40D5-9818-1D75-CBF9-C6EE5BA2B390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1611D8E-01D0-241B-6A96-E748E678921A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1A1A4EA-0755-4167-BDD9-F9552175B3DC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E460BC8-B8B3-81D6-72CE-32FC3C820E8F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8E31C80-686A-B3C8-F097-5D879A4B9FB7}"/>
              </a:ext>
            </a:extLst>
          </p:cNvPr>
          <p:cNvSpPr txBox="1"/>
          <p:nvPr/>
        </p:nvSpPr>
        <p:spPr>
          <a:xfrm>
            <a:off x="2773680" y="1242061"/>
            <a:ext cx="9105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1A1A1A"/>
                </a:solidFill>
              </a:rPr>
              <a:t>Questa </a:t>
            </a:r>
            <a:r>
              <a:rPr lang="en-US" b="0" i="0" dirty="0" err="1">
                <a:solidFill>
                  <a:srgbClr val="1A1A1A"/>
                </a:solidFill>
              </a:rPr>
              <a:t>fase</a:t>
            </a:r>
            <a:r>
              <a:rPr lang="en-US" b="0" i="0" dirty="0">
                <a:solidFill>
                  <a:srgbClr val="1A1A1A"/>
                </a:solidFill>
              </a:rPr>
              <a:t> </a:t>
            </a:r>
            <a:r>
              <a:rPr lang="en-US" b="0" i="0" dirty="0" err="1">
                <a:solidFill>
                  <a:srgbClr val="1A1A1A"/>
                </a:solidFill>
              </a:rPr>
              <a:t>si</a:t>
            </a:r>
            <a:r>
              <a:rPr lang="en-US" b="0" i="0" dirty="0">
                <a:solidFill>
                  <a:srgbClr val="1A1A1A"/>
                </a:solidFill>
              </a:rPr>
              <a:t> </a:t>
            </a:r>
            <a:r>
              <a:rPr lang="en-US" b="0" i="0" dirty="0" err="1">
                <a:solidFill>
                  <a:srgbClr val="1A1A1A"/>
                </a:solidFill>
              </a:rPr>
              <a:t>articola</a:t>
            </a:r>
            <a:r>
              <a:rPr lang="en-US" b="0" i="0" dirty="0">
                <a:solidFill>
                  <a:srgbClr val="1A1A1A"/>
                </a:solidFill>
              </a:rPr>
              <a:t> in 3 </a:t>
            </a:r>
            <a:r>
              <a:rPr lang="en-US" b="0" i="0" dirty="0" err="1">
                <a:solidFill>
                  <a:srgbClr val="1A1A1A"/>
                </a:solidFill>
              </a:rPr>
              <a:t>momenti</a:t>
            </a:r>
            <a:r>
              <a:rPr lang="en-US" b="0" i="0" dirty="0">
                <a:solidFill>
                  <a:srgbClr val="1A1A1A"/>
                </a:solidFill>
              </a:rPr>
              <a:t>: </a:t>
            </a:r>
            <a:r>
              <a:rPr lang="en-US" b="0" i="0" dirty="0" err="1">
                <a:solidFill>
                  <a:srgbClr val="1A1A1A"/>
                </a:solidFill>
              </a:rPr>
              <a:t>si</a:t>
            </a:r>
            <a:r>
              <a:rPr lang="en-US" b="0" i="0" dirty="0">
                <a:solidFill>
                  <a:srgbClr val="1A1A1A"/>
                </a:solidFill>
              </a:rPr>
              <a:t> </a:t>
            </a:r>
            <a:r>
              <a:rPr lang="en-US" b="0" i="0" dirty="0" err="1">
                <a:solidFill>
                  <a:srgbClr val="1A1A1A"/>
                </a:solidFill>
              </a:rPr>
              <a:t>effettua</a:t>
            </a:r>
            <a:r>
              <a:rPr lang="en-US" b="0" i="0" dirty="0">
                <a:solidFill>
                  <a:srgbClr val="1A1A1A"/>
                </a:solidFill>
              </a:rPr>
              <a:t> il </a:t>
            </a:r>
            <a:r>
              <a:rPr lang="en-US" b="0" i="0" dirty="0" err="1">
                <a:solidFill>
                  <a:srgbClr val="1A1A1A"/>
                </a:solidFill>
              </a:rPr>
              <a:t>lowcasing</a:t>
            </a:r>
            <a:r>
              <a:rPr lang="en-US" b="0" i="0" dirty="0">
                <a:solidFill>
                  <a:srgbClr val="1A1A1A"/>
                </a:solidFill>
              </a:rPr>
              <a:t> di </a:t>
            </a:r>
            <a:r>
              <a:rPr lang="en-US" b="0" i="0" dirty="0" err="1">
                <a:solidFill>
                  <a:srgbClr val="1A1A1A"/>
                </a:solidFill>
              </a:rPr>
              <a:t>tutto</a:t>
            </a:r>
            <a:r>
              <a:rPr lang="en-US" b="0" i="0" dirty="0">
                <a:solidFill>
                  <a:srgbClr val="1A1A1A"/>
                </a:solidFill>
              </a:rPr>
              <a:t> il testo, </a:t>
            </a:r>
            <a:r>
              <a:rPr lang="en-US" b="0" i="0" dirty="0" err="1">
                <a:solidFill>
                  <a:srgbClr val="1A1A1A"/>
                </a:solidFill>
              </a:rPr>
              <a:t>elimina</a:t>
            </a:r>
            <a:r>
              <a:rPr lang="en-US" b="0" i="0" dirty="0">
                <a:solidFill>
                  <a:srgbClr val="1A1A1A"/>
                </a:solidFill>
              </a:rPr>
              <a:t> la </a:t>
            </a:r>
            <a:r>
              <a:rPr lang="en-US" b="0" i="0" dirty="0" err="1">
                <a:solidFill>
                  <a:srgbClr val="1A1A1A"/>
                </a:solidFill>
              </a:rPr>
              <a:t>punteggiatura</a:t>
            </a:r>
            <a:r>
              <a:rPr lang="en-US" b="0" i="0" dirty="0">
                <a:solidFill>
                  <a:srgbClr val="1A1A1A"/>
                </a:solidFill>
              </a:rPr>
              <a:t> e il testo non </a:t>
            </a:r>
            <a:r>
              <a:rPr lang="en-US" b="0" i="0" dirty="0" err="1">
                <a:solidFill>
                  <a:srgbClr val="1A1A1A"/>
                </a:solidFill>
              </a:rPr>
              <a:t>rilevante</a:t>
            </a:r>
            <a:r>
              <a:rPr lang="en-US" dirty="0">
                <a:solidFill>
                  <a:srgbClr val="1A1A1A"/>
                </a:solidFill>
              </a:rPr>
              <a:t> e </a:t>
            </a:r>
            <a:r>
              <a:rPr lang="en-US" dirty="0" err="1">
                <a:solidFill>
                  <a:srgbClr val="1A1A1A"/>
                </a:solidFill>
              </a:rPr>
              <a:t>si</a:t>
            </a:r>
            <a:r>
              <a:rPr lang="en-US" dirty="0">
                <a:solidFill>
                  <a:srgbClr val="1A1A1A"/>
                </a:solidFill>
              </a:rPr>
              <a:t> </a:t>
            </a:r>
            <a:r>
              <a:rPr lang="en-US" dirty="0" err="1">
                <a:solidFill>
                  <a:srgbClr val="1A1A1A"/>
                </a:solidFill>
              </a:rPr>
              <a:t>cancellano</a:t>
            </a:r>
            <a:r>
              <a:rPr lang="en-US" dirty="0">
                <a:solidFill>
                  <a:srgbClr val="1A1A1A"/>
                </a:solidFill>
              </a:rPr>
              <a:t> le </a:t>
            </a:r>
            <a:r>
              <a:rPr lang="en-US" dirty="0" err="1">
                <a:solidFill>
                  <a:srgbClr val="1A1A1A"/>
                </a:solidFill>
              </a:rPr>
              <a:t>stopwords</a:t>
            </a:r>
            <a:r>
              <a:rPr lang="en-US" dirty="0">
                <a:solidFill>
                  <a:srgbClr val="1A1A1A"/>
                </a:solidFill>
              </a:rPr>
              <a:t> </a:t>
            </a:r>
            <a:r>
              <a:rPr lang="en-US" dirty="0" err="1">
                <a:solidFill>
                  <a:srgbClr val="1A1A1A"/>
                </a:solidFill>
              </a:rPr>
              <a:t>inglesi</a:t>
            </a:r>
            <a:endParaRPr b="0" i="0" dirty="0">
              <a:solidFill>
                <a:srgbClr val="1A1A1A"/>
              </a:solidFill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DC74868-2C9D-3044-05AB-8104E641C777}"/>
              </a:ext>
            </a:extLst>
          </p:cNvPr>
          <p:cNvSpPr txBox="1"/>
          <p:nvPr/>
        </p:nvSpPr>
        <p:spPr>
          <a:xfrm>
            <a:off x="260350" y="2539795"/>
            <a:ext cx="3416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 err="1">
                <a:solidFill>
                  <a:srgbClr val="1F4E79"/>
                </a:solidFill>
              </a:rPr>
              <a:t>Risultati</a:t>
            </a:r>
            <a:r>
              <a:rPr lang="en-US" sz="2800" b="1" i="0" dirty="0">
                <a:solidFill>
                  <a:srgbClr val="1F4E79"/>
                </a:solidFill>
              </a:rPr>
              <a:t>:</a:t>
            </a:r>
            <a:endParaRPr sz="2800" b="1" i="0" dirty="0">
              <a:solidFill>
                <a:srgbClr val="1F4E79"/>
              </a:solidFill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4F1A20EB-2AB5-FF3E-109E-3E444C0C90EC}"/>
              </a:ext>
            </a:extLst>
          </p:cNvPr>
          <p:cNvSpPr txBox="1"/>
          <p:nvPr/>
        </p:nvSpPr>
        <p:spPr>
          <a:xfrm>
            <a:off x="251560" y="1314814"/>
            <a:ext cx="2426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F4E79"/>
                </a:solidFill>
              </a:rPr>
              <a:t>Preprocessing:</a:t>
            </a:r>
            <a:endParaRPr sz="2800" b="1" i="0" dirty="0">
              <a:solidFill>
                <a:srgbClr val="1F4E79"/>
              </a:solidFill>
            </a:endParaRPr>
          </a:p>
        </p:txBody>
      </p:sp>
      <p:pic>
        <p:nvPicPr>
          <p:cNvPr id="2" name="Picture 9" descr="parole_discriminan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200" y="2131644"/>
            <a:ext cx="8739178" cy="39158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031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8C4C-C6B2-EF08-CBB7-F60AC5833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7480EC54-6979-2568-97E8-B34BBC84E2F6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AFD9356-B0E0-7A65-5EE9-DFBF30D6A6C9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E19B1BCB-5D41-9501-08EE-6EEAF21C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A1992A1-BF59-ABE4-7A81-C38E98B6AEE7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082309-D47E-08A3-450A-B337232929EE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C3F8CD-90B6-DF6B-C72A-BF7858B8CDB5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97E19FC-1C30-ABF8-CBCB-72992687AB2B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640016" y="150876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F4E79"/>
                </a:solidFill>
              </a:rPr>
              <a:t>Rappresentazione</a:t>
            </a:r>
            <a:r>
              <a:rPr sz="2800" b="1" i="0" dirty="0">
                <a:solidFill>
                  <a:srgbClr val="1F4E79"/>
                </a:solidFill>
              </a:rPr>
              <a:t> TF-IDF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640016" y="225856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4"/>
              <p:cNvSpPr txBox="1"/>
              <p:nvPr/>
            </p:nvSpPr>
            <p:spPr>
              <a:xfrm>
                <a:off x="701040" y="2194560"/>
                <a:ext cx="4957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TF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nor/>
                        </m:rPr>
                        <a:rPr lang="it-IT" b="0" i="0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IDF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  =  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dirty="0" err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dirty="0" err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0" i="1" dirty="0" err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  ×  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𝐼𝐷𝐹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2194560"/>
                <a:ext cx="4957508" cy="369332"/>
              </a:xfrm>
              <a:prstGeom prst="rect">
                <a:avLst/>
              </a:prstGeom>
              <a:blipFill>
                <a:blip r:embed="rId3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5"/>
              <p:cNvSpPr txBox="1"/>
              <p:nvPr/>
            </p:nvSpPr>
            <p:spPr>
              <a:xfrm>
                <a:off x="640016" y="2835086"/>
                <a:ext cx="1090879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it-IT" sz="1600" b="0" i="0" dirty="0">
                    <a:solidFill>
                      <a:srgbClr val="555555"/>
                    </a:solidFill>
                  </a:rPr>
                  <a:t>TF con </a:t>
                </a:r>
                <a:r>
                  <a:rPr lang="it-IT" sz="1600" b="0" i="0" dirty="0" err="1">
                    <a:solidFill>
                      <a:srgbClr val="555555"/>
                    </a:solidFill>
                  </a:rPr>
                  <a:t>smorzamento</a:t>
                </a:r>
                <a:r>
                  <a:rPr lang="it-IT" sz="1600" b="0" i="0" dirty="0">
                    <a:solidFill>
                      <a:srgbClr val="555555"/>
                    </a:solidFill>
                  </a:rPr>
                  <a:t> log:  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sz="1600" b="0" i="1" dirty="0" smtClean="0">
                            <a:solidFill>
                              <a:srgbClr val="5555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dirty="0" smtClean="0">
                            <a:solidFill>
                              <a:srgbClr val="555555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600" b="0" i="1" dirty="0" smtClean="0">
                            <a:solidFill>
                              <a:srgbClr val="555555"/>
                            </a:solidFill>
                            <a:latin typeface="Cambria Math" panose="02040503050406030204" pitchFamily="18" charset="0"/>
                          </a:rPr>
                          <m:t>𝑠𝑢𝑏</m:t>
                        </m:r>
                      </m:sub>
                    </m:sSub>
                    <m:r>
                      <a:rPr lang="ar-AE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600" b="0" i="1" dirty="0" err="1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sz="1600" b="0" i="1" dirty="0" err="1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600" b="0" i="1" dirty="0" err="1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ar-AE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it-IT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it-IT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it-IT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𝑐𝑜𝑢𝑛𝑡</m:t>
                    </m:r>
                    <m:r>
                      <a:rPr lang="it-IT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0" i="1" dirty="0" err="1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1600" b="0" i="1" dirty="0" err="1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1600" b="0" i="1" dirty="0" err="1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it-IT" sz="1600" b="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))   </m:t>
                    </m:r>
                  </m:oMath>
                </a14:m>
                <a:r>
                  <a:rPr lang="it-IT" sz="1600" b="0" i="0" dirty="0">
                    <a:solidFill>
                      <a:srgbClr val="555555"/>
                    </a:solidFill>
                  </a:rPr>
                  <a:t>→   </a:t>
                </a:r>
                <a:r>
                  <a:rPr lang="it-IT" sz="1600" b="0" i="0" dirty="0" err="1">
                    <a:solidFill>
                      <a:srgbClr val="555555"/>
                    </a:solidFill>
                  </a:rPr>
                  <a:t>robustezza</a:t>
                </a:r>
                <a:r>
                  <a:rPr lang="it-IT" sz="1600" b="0" i="0" dirty="0">
                    <a:solidFill>
                      <a:srgbClr val="555555"/>
                    </a:solidFill>
                  </a:rPr>
                  <a:t> a </a:t>
                </a:r>
                <a:r>
                  <a:rPr lang="it-IT" sz="1600" b="0" i="0" dirty="0" err="1">
                    <a:solidFill>
                      <a:srgbClr val="555555"/>
                    </a:solidFill>
                  </a:rPr>
                  <a:t>testi</a:t>
                </a:r>
                <a:r>
                  <a:rPr lang="it-IT" sz="1600" b="0" i="0" dirty="0">
                    <a:solidFill>
                      <a:srgbClr val="555555"/>
                    </a:solidFill>
                  </a:rPr>
                  <a:t> di </a:t>
                </a:r>
                <a:r>
                  <a:rPr lang="it-IT" sz="1600" b="0" i="0" dirty="0" err="1">
                    <a:solidFill>
                      <a:srgbClr val="555555"/>
                    </a:solidFill>
                  </a:rPr>
                  <a:t>lunghezza</a:t>
                </a:r>
                <a:r>
                  <a:rPr lang="it-IT" sz="1600" b="0" i="0" dirty="0">
                    <a:solidFill>
                      <a:srgbClr val="555555"/>
                    </a:solidFill>
                  </a:rPr>
                  <a:t> </a:t>
                </a:r>
                <a:r>
                  <a:rPr lang="it-IT" sz="1600" b="0" i="0" dirty="0" err="1">
                    <a:solidFill>
                      <a:srgbClr val="555555"/>
                    </a:solidFill>
                  </a:rPr>
                  <a:t>variabile</a:t>
                </a:r>
                <a:endParaRPr sz="1600" b="0" i="0" dirty="0">
                  <a:solidFill>
                    <a:srgbClr val="555555"/>
                  </a:solidFill>
                </a:endParaRPr>
              </a:p>
            </p:txBody>
          </p:sp>
        </mc:Choice>
        <mc:Fallback>
          <p:sp>
            <p:nvSpPr>
              <p:cNvPr id="15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16" y="2835086"/>
                <a:ext cx="10908792" cy="338554"/>
              </a:xfrm>
              <a:prstGeom prst="rect">
                <a:avLst/>
              </a:prstGeom>
              <a:blipFill>
                <a:blip r:embed="rId4"/>
                <a:stretch>
                  <a:fillRect l="-335" t="-5357"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6"/>
              <p:cNvSpPr txBox="1"/>
              <p:nvPr/>
            </p:nvSpPr>
            <p:spPr>
              <a:xfrm>
                <a:off x="640016" y="3383280"/>
                <a:ext cx="1090879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555555"/>
                    </a:solidFill>
                  </a:rPr>
                  <a:t>IDF con Laplace smoothing:  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𝐼𝐷𝐹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⁡((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)/(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))) + 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6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sz="1600" b="0" i="0" dirty="0">
                    <a:solidFill>
                      <a:srgbClr val="555555"/>
                    </a:solidFill>
                  </a:rPr>
                  <a:t>→   per N=3617, </a:t>
                </a:r>
                <a:r>
                  <a:rPr sz="1600" b="0" i="0" dirty="0" err="1">
                    <a:solidFill>
                      <a:srgbClr val="555555"/>
                    </a:solidFill>
                  </a:rPr>
                  <a:t>termine</a:t>
                </a:r>
                <a:r>
                  <a:rPr sz="1600" b="0" i="0" dirty="0">
                    <a:solidFill>
                      <a:srgbClr val="555555"/>
                    </a:solidFill>
                  </a:rPr>
                  <a:t> </a:t>
                </a:r>
                <a:r>
                  <a:rPr sz="1600" b="0" i="0" dirty="0" err="1">
                    <a:solidFill>
                      <a:srgbClr val="555555"/>
                    </a:solidFill>
                  </a:rPr>
                  <a:t>unico</a:t>
                </a:r>
                <a:r>
                  <a:rPr sz="1600" b="0" i="0" dirty="0">
                    <a:solidFill>
                      <a:srgbClr val="555555"/>
                    </a:solidFill>
                  </a:rPr>
                  <a:t>: IDF ≈ 8.50</a:t>
                </a:r>
              </a:p>
            </p:txBody>
          </p:sp>
        </mc:Choice>
        <mc:Fallback>
          <p:sp>
            <p:nvSpPr>
              <p:cNvPr id="16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16" y="3383280"/>
                <a:ext cx="10908792" cy="338554"/>
              </a:xfrm>
              <a:prstGeom prst="rect">
                <a:avLst/>
              </a:prstGeom>
              <a:blipFill>
                <a:blip r:embed="rId5"/>
                <a:stretch>
                  <a:fillRect l="-335" t="-5357"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7"/>
          <p:cNvSpPr txBox="1"/>
          <p:nvPr/>
        </p:nvSpPr>
        <p:spPr>
          <a:xfrm>
            <a:off x="640016" y="3886200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Parametri del vettorizzatore</a:t>
            </a:r>
          </a:p>
        </p:txBody>
      </p:sp>
      <p:graphicFrame>
        <p:nvGraphicFramePr>
          <p:cNvPr id="1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590704"/>
              </p:ext>
            </p:extLst>
          </p:nvPr>
        </p:nvGraphicFramePr>
        <p:xfrm>
          <a:off x="640016" y="4297680"/>
          <a:ext cx="10908792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Parametro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Valore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Motivazione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max_features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Saturazione sperimentale: accuracy identica fino a 10 000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sublinear_tf</a:t>
                      </a:r>
                      <a:endParaRPr sz="1400" dirty="0">
                        <a:solidFill>
                          <a:srgbClr val="1A1A1A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True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Evita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che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articoli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lunghi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dominino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 il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vettore</a:t>
                      </a:r>
                      <a:endParaRPr sz="1400" dirty="0">
                        <a:solidFill>
                          <a:srgbClr val="1A1A1A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Normalizzazione</a:t>
                      </a:r>
                      <a:endParaRPr sz="1400" dirty="0">
                        <a:solidFill>
                          <a:srgbClr val="1A1A1A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Vettori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unitari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invarianza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 alla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lunghezza</a:t>
                      </a:r>
                      <a:r>
                        <a:rPr sz="1400" dirty="0">
                          <a:solidFill>
                            <a:srgbClr val="1A1A1A"/>
                          </a:solidFill>
                        </a:rPr>
                        <a:t> del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</a:rPr>
                        <a:t>documento</a:t>
                      </a:r>
                      <a:endParaRPr sz="1400" dirty="0">
                        <a:solidFill>
                          <a:srgbClr val="1A1A1A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35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82F3-DBE5-1839-0296-5C6DBE0D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217FF487-B296-A9EB-FA19-EC380D619060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BF0F9F7-6D1F-1FE4-E64D-7A27250CF1A1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7E8A0FFF-9855-F03C-E42E-D82FA79C7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CC8741A-FB5A-9FEA-DEBB-51D12746C041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1318278-4809-5A54-2160-DB31BE677D5B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0652D8C-6213-7E99-D6EC-249190494C94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360C2CB-A5A4-3EDC-CDE0-2162F5744BCC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0470" y="1518284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F4E79"/>
                </a:solidFill>
              </a:rPr>
              <a:t>Modello</a:t>
            </a:r>
            <a:r>
              <a:rPr sz="2800" b="1" i="0" dirty="0">
                <a:solidFill>
                  <a:srgbClr val="1F4E79"/>
                </a:solidFill>
              </a:rPr>
              <a:t> — </a:t>
            </a:r>
            <a:r>
              <a:rPr sz="2800" b="1" i="0" dirty="0" err="1">
                <a:solidFill>
                  <a:srgbClr val="1F4E79"/>
                </a:solidFill>
              </a:rPr>
              <a:t>LinearSVC</a:t>
            </a:r>
            <a:endParaRPr sz="2800" b="1" i="0" dirty="0">
              <a:solidFill>
                <a:srgbClr val="1F4E7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0470" y="2268092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Problema di ottimizzazione (hinge loss + margine massimo)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4"/>
              <p:cNvSpPr txBox="1"/>
              <p:nvPr/>
            </p:nvSpPr>
            <p:spPr>
              <a:xfrm>
                <a:off x="970470" y="2615564"/>
                <a:ext cx="10908792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f>
                            <m:fPr>
                              <m:ctrlPr>
                                <a:rPr lang="en-US" b="0" i="1" dirty="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‖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‖²  +  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m:rPr>
                          <m:sty m:val="p"/>
                        </m:rPr>
                        <a:rPr lang="el-GR" b="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⁡(0, 1 − 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ᵢ(</m:t>
                      </m:r>
                      <m:r>
                        <a:rPr lang="it-IT" b="0" i="1" dirty="0" err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b="0" i="1" dirty="0" err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it-IT" b="0" i="1" dirty="0" err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ᵢ + 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t-IT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70" y="2615564"/>
                <a:ext cx="10908792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6"/>
          <p:cNvSpPr txBox="1"/>
          <p:nvPr/>
        </p:nvSpPr>
        <p:spPr>
          <a:xfrm>
            <a:off x="970470" y="3621404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Classificazione multi-classe: one-vs-rest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7"/>
              <p:cNvSpPr txBox="1"/>
              <p:nvPr/>
            </p:nvSpPr>
            <p:spPr>
              <a:xfrm>
                <a:off x="970470" y="3968876"/>
                <a:ext cx="109087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cy-GB" sz="1600" b="0" i="0" dirty="0">
                    <a:solidFill>
                      <a:srgbClr val="1A1A1A"/>
                    </a:solidFill>
                  </a:rPr>
                  <a:t>Per ogni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categoria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cy-GB" sz="1600" b="0" i="0" dirty="0">
                    <a:solidFill>
                      <a:srgbClr val="1A1A1A"/>
                    </a:solidFill>
                  </a:rPr>
                  <a:t>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si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addestra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un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classificatore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binario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ₖ(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ₖ·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ₖ</m:t>
                    </m:r>
                  </m:oMath>
                </a14:m>
                <a:r>
                  <a:rPr lang="cy-GB" sz="1600" b="0" i="0" dirty="0">
                    <a:solidFill>
                      <a:srgbClr val="1A1A1A"/>
                    </a:solidFill>
                  </a:rPr>
                  <a:t>
La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classe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assegnata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è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quella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con il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punteggio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 </a:t>
                </a:r>
                <a:r>
                  <a:rPr lang="cy-GB" sz="1600" b="0" i="0" dirty="0" err="1">
                    <a:solidFill>
                      <a:srgbClr val="1A1A1A"/>
                    </a:solidFill>
                  </a:rPr>
                  <a:t>massimo</a:t>
                </a:r>
                <a:r>
                  <a:rPr lang="cy-GB" sz="1600" b="0" i="0" dirty="0">
                    <a:solidFill>
                      <a:srgbClr val="1A1A1A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cy-GB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ŷ = </m:t>
                    </m:r>
                    <m:r>
                      <a:rPr lang="cy-GB" sz="1600" b="0" i="1" dirty="0" err="1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ar-AE" sz="1600" b="0" i="1" dirty="0" err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dirty="0" err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 b="0" i="1" dirty="0" err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sz="16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6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cy-GB" sz="16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ₖ(</m:t>
                    </m:r>
                    <m:r>
                      <a:rPr lang="cy-GB" sz="16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y-GB" sz="16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0" i="0" dirty="0">
                  <a:solidFill>
                    <a:srgbClr val="1A1A1A"/>
                  </a:solidFill>
                </a:endParaRPr>
              </a:p>
            </p:txBody>
          </p:sp>
        </mc:Choice>
        <mc:Fallback>
          <p:sp>
            <p:nvSpPr>
              <p:cNvPr id="20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70" y="3968876"/>
                <a:ext cx="10908792" cy="584775"/>
              </a:xfrm>
              <a:prstGeom prst="rect">
                <a:avLst/>
              </a:prstGeom>
              <a:blipFill>
                <a:blip r:embed="rId4"/>
                <a:stretch>
                  <a:fillRect l="-279" t="-3125" b="-12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8"/>
          <p:cNvSpPr txBox="1"/>
          <p:nvPr/>
        </p:nvSpPr>
        <p:spPr>
          <a:xfrm>
            <a:off x="970470" y="4718684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Perché kernel lineare è sufficiente — Teorema di Cover (1965)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9"/>
              <p:cNvSpPr txBox="1"/>
              <p:nvPr/>
            </p:nvSpPr>
            <p:spPr>
              <a:xfrm>
                <a:off x="970470" y="5084444"/>
                <a:ext cx="1090879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A1A1A"/>
                    </a:solidFill>
                  </a:rPr>
                  <a:t>La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probabilità</a:t>
                </a:r>
                <a:r>
                  <a:rPr sz="1600" b="0" i="0" dirty="0">
                    <a:solidFill>
                      <a:srgbClr val="1A1A1A"/>
                    </a:solidFill>
                  </a:rPr>
                  <a:t> di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separabilità</a:t>
                </a:r>
                <a:r>
                  <a:rPr sz="1600" b="0" i="0" dirty="0">
                    <a:solidFill>
                      <a:srgbClr val="1A1A1A"/>
                    </a:solidFill>
                  </a:rPr>
                  <a:t>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lineare</a:t>
                </a:r>
                <a:r>
                  <a:rPr sz="1600" b="0" i="0" dirty="0">
                    <a:solidFill>
                      <a:srgbClr val="1A1A1A"/>
                    </a:solidFill>
                  </a:rPr>
                  <a:t>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cresce</a:t>
                </a:r>
                <a:r>
                  <a:rPr sz="1600" b="0" i="0" dirty="0">
                    <a:solidFill>
                      <a:srgbClr val="1A1A1A"/>
                    </a:solidFill>
                  </a:rPr>
                  <a:t> con la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dimensione</a:t>
                </a:r>
                <a:r>
                  <a:rPr sz="1600" b="0" i="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1600" b="0" i="0" dirty="0">
                    <a:solidFill>
                      <a:srgbClr val="1A1A1A"/>
                    </a:solidFill>
                  </a:rPr>
                  <a:t> e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decresce</a:t>
                </a:r>
                <a:r>
                  <a:rPr sz="1600" b="0" i="0" dirty="0">
                    <a:solidFill>
                      <a:srgbClr val="1A1A1A"/>
                    </a:solidFill>
                  </a:rPr>
                  <a:t> con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sz="1600" b="0" i="0" dirty="0">
                    <a:solidFill>
                      <a:srgbClr val="1A1A1A"/>
                    </a:solidFill>
                  </a:rPr>
                  <a:t>
Nel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progetto</a:t>
                </a:r>
                <a:r>
                  <a:rPr sz="1600" b="0" i="0" dirty="0">
                    <a:solidFill>
                      <a:srgbClr val="1A1A1A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5000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b="0" i="0" dirty="0">
                    <a:solidFill>
                      <a:srgbClr val="1A1A1A"/>
                    </a:solidFill>
                  </a:rPr>
                  <a:t>feature TF-IDF,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2893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b="0" i="0" dirty="0" err="1">
                    <a:solidFill>
                      <a:srgbClr val="1A1A1A"/>
                    </a:solidFill>
                  </a:rPr>
                  <a:t>campioni</a:t>
                </a:r>
                <a:r>
                  <a:rPr sz="1600" b="0" i="0" dirty="0">
                    <a:solidFill>
                      <a:srgbClr val="1A1A1A"/>
                    </a:solidFill>
                  </a:rPr>
                  <a:t> di training  → 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6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sz="1600" b="0" i="0" dirty="0">
                    <a:solidFill>
                      <a:srgbClr val="1A1A1A"/>
                    </a:solidFill>
                  </a:rPr>
                  <a:t>→ 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separabilità</a:t>
                </a:r>
                <a:r>
                  <a:rPr sz="1600" b="0" i="0" dirty="0">
                    <a:solidFill>
                      <a:srgbClr val="1A1A1A"/>
                    </a:solidFill>
                  </a:rPr>
                  <a:t> quasi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certa</a:t>
                </a:r>
                <a:r>
                  <a:rPr sz="1600" b="0" i="0" dirty="0">
                    <a:solidFill>
                      <a:srgbClr val="1A1A1A"/>
                    </a:solidFill>
                  </a:rPr>
                  <a:t>.
Kernel non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lineari</a:t>
                </a:r>
                <a:r>
                  <a:rPr sz="1600" b="0" i="0" dirty="0">
                    <a:solidFill>
                      <a:srgbClr val="1A1A1A"/>
                    </a:solidFill>
                  </a:rPr>
                  <a:t>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aumenterebbero</a:t>
                </a:r>
                <a:r>
                  <a:rPr sz="1600" b="0" i="0" dirty="0">
                    <a:solidFill>
                      <a:srgbClr val="1A1A1A"/>
                    </a:solidFill>
                  </a:rPr>
                  <a:t> la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capacità</a:t>
                </a:r>
                <a:r>
                  <a:rPr sz="1600" b="0" i="0" dirty="0">
                    <a:solidFill>
                      <a:srgbClr val="1A1A1A"/>
                    </a:solidFill>
                  </a:rPr>
                  <a:t>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espressiva</a:t>
                </a:r>
                <a:r>
                  <a:rPr sz="1600" b="0" i="0" dirty="0">
                    <a:solidFill>
                      <a:srgbClr val="1A1A1A"/>
                    </a:solidFill>
                  </a:rPr>
                  <a:t> </a:t>
                </a:r>
                <a:r>
                  <a:rPr sz="1600" b="0" i="0" dirty="0" err="1">
                    <a:solidFill>
                      <a:srgbClr val="1A1A1A"/>
                    </a:solidFill>
                  </a:rPr>
                  <a:t>rischiando</a:t>
                </a:r>
                <a:r>
                  <a:rPr sz="1600" b="0" i="0" dirty="0">
                    <a:solidFill>
                      <a:srgbClr val="1A1A1A"/>
                    </a:solidFill>
                  </a:rPr>
                  <a:t> overfitting.</a:t>
                </a:r>
              </a:p>
            </p:txBody>
          </p:sp>
        </mc:Choice>
        <mc:Fallback>
          <p:sp>
            <p:nvSpPr>
              <p:cNvPr id="22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70" y="5084444"/>
                <a:ext cx="10908792" cy="830997"/>
              </a:xfrm>
              <a:prstGeom prst="rect">
                <a:avLst/>
              </a:prstGeom>
              <a:blipFill>
                <a:blip r:embed="rId5"/>
                <a:stretch>
                  <a:fillRect l="-279" t="-2206" b="-88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41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51E26-5CDA-ABF9-780E-AFC88960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D9E4D4D3-F9AD-4504-3718-A2A5B48AE2F5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C922639-4233-36DC-1F76-C70F9DB0D4F3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2482E139-CDD8-3FFB-E6AA-C95134BF7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84E3F8-D2A7-F85D-0724-F142E234635C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B0903D-0D60-3A36-85D1-E52CE4680740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84CDD2A-5BC2-E51A-DAA9-487F4CD98C51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33915BA-6D9A-4A52-9727-ED36ADE81C2C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1520" y="1275873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F4E79"/>
                </a:solidFill>
              </a:rPr>
              <a:t>Calibrazione</a:t>
            </a:r>
            <a:r>
              <a:rPr sz="2800" b="1" i="0" dirty="0">
                <a:solidFill>
                  <a:srgbClr val="1F4E79"/>
                </a:solidFill>
              </a:rPr>
              <a:t> della </a:t>
            </a:r>
            <a:r>
              <a:rPr sz="2800" b="1" i="0" dirty="0" err="1">
                <a:solidFill>
                  <a:srgbClr val="1F4E79"/>
                </a:solidFill>
              </a:rPr>
              <a:t>confidenza</a:t>
            </a:r>
            <a:endParaRPr sz="2800" b="1" i="0" dirty="0">
              <a:solidFill>
                <a:srgbClr val="1F4E7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01653"/>
            <a:ext cx="1090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1A1A1A"/>
                </a:solidFill>
              </a:rPr>
              <a:t>Problema</a:t>
            </a:r>
            <a:r>
              <a:rPr b="0" i="0" dirty="0">
                <a:solidFill>
                  <a:srgbClr val="1A1A1A"/>
                </a:solidFill>
              </a:rPr>
              <a:t>: </a:t>
            </a:r>
            <a:r>
              <a:rPr b="0" i="0" dirty="0" err="1">
                <a:solidFill>
                  <a:srgbClr val="1A1A1A"/>
                </a:solidFill>
              </a:rPr>
              <a:t>LinearSVC</a:t>
            </a:r>
            <a:r>
              <a:rPr b="0" i="0" dirty="0">
                <a:solidFill>
                  <a:srgbClr val="1A1A1A"/>
                </a:solidFill>
              </a:rPr>
              <a:t> produce score </a:t>
            </a:r>
            <a:r>
              <a:rPr b="0" i="0" dirty="0" err="1">
                <a:solidFill>
                  <a:srgbClr val="1A1A1A"/>
                </a:solidFill>
              </a:rPr>
              <a:t>grezzi</a:t>
            </a:r>
            <a:r>
              <a:rPr b="0" i="0" dirty="0">
                <a:solidFill>
                  <a:srgbClr val="1A1A1A"/>
                </a:solidFill>
              </a:rPr>
              <a:t> (decision function), non </a:t>
            </a:r>
            <a:r>
              <a:rPr b="0" i="0" dirty="0" err="1">
                <a:solidFill>
                  <a:srgbClr val="1A1A1A"/>
                </a:solidFill>
              </a:rPr>
              <a:t>probabilità</a:t>
            </a:r>
            <a:r>
              <a:rPr b="0" i="0" dirty="0">
                <a:solidFill>
                  <a:srgbClr val="1A1A1A"/>
                </a:solidFill>
              </a:rPr>
              <a:t> calibrate.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69820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Temperature 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72096" y="2308911"/>
                <a:ext cx="10908792" cy="1781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it-IT" sz="20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ₖ(</m:t>
                    </m:r>
                    <m:r>
                      <a:rPr lang="it-IT" sz="20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0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; </m:t>
                    </m:r>
                    <m:r>
                      <a:rPr lang="it-IT" sz="20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it-IT" sz="20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) =</m:t>
                    </m:r>
                    <m:d>
                      <m:dPr>
                        <m:ctrlPr>
                          <a:rPr lang="it-IT" sz="20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t-IT" sz="20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it-IT" sz="2000" b="0" i="1" dirty="0" smtClean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t-IT" sz="2000" b="0" i="0" dirty="0" smtClean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it-IT" sz="2000" b="0" i="1" dirty="0" smtClean="0">
                                        <a:solidFill>
                                          <a:srgbClr val="1A1A1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000" b="0" i="1" dirty="0" smtClean="0">
                                        <a:solidFill>
                                          <a:srgbClr val="1A1A1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it-IT" sz="2000" b="0" i="1" dirty="0" smtClean="0">
                                        <a:solidFill>
                                          <a:srgbClr val="1A1A1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ₖ</m:t>
                                    </m:r>
                                    <m:f>
                                      <m:fPr>
                                        <m:ctrlPr>
                                          <a:rPr lang="it-IT" sz="2000" b="0" i="1" dirty="0" smtClean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it-IT" sz="2000" b="0" i="1" dirty="0" smtClean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it-IT" sz="2000" b="0" i="1" dirty="0" smtClean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2000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ⱼ</m:t>
                            </m:r>
                            <m:func>
                              <m:funcPr>
                                <m:ctrlPr>
                                  <a:rPr lang="it-IT" sz="20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t-IT" sz="2000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it-IT" sz="2000" i="1" dirty="0">
                                        <a:solidFill>
                                          <a:srgbClr val="1A1A1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it-IT" sz="2000" i="1" dirty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it-IT" sz="2000" i="1" dirty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it-IT" sz="2000" i="1" dirty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ⱼ</m:t>
                                        </m:r>
                                        <m:d>
                                          <m:dPr>
                                            <m:ctrlPr>
                                              <a:rPr lang="it-IT" sz="2000" i="1" dirty="0">
                                                <a:solidFill>
                                                  <a:srgbClr val="1A1A1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t-IT" sz="2000" i="1" dirty="0">
                                                <a:solidFill>
                                                  <a:srgbClr val="1A1A1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it-IT" sz="2000" i="1" dirty="0">
                                            <a:solidFill>
                                              <a:srgbClr val="1A1A1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it-IT" sz="1600" b="0" i="0" dirty="0">
                    <a:solidFill>
                      <a:srgbClr val="1A1A1A"/>
                    </a:solidFill>
                  </a:rPr>
                  <a:t>
T* </a:t>
                </a:r>
                <a:r>
                  <a:rPr lang="it-IT" sz="1600" b="0" i="0" dirty="0" err="1">
                    <a:solidFill>
                      <a:srgbClr val="1A1A1A"/>
                    </a:solidFill>
                  </a:rPr>
                  <a:t>ottimizzato</a:t>
                </a:r>
                <a:r>
                  <a:rPr lang="it-IT" sz="1600" b="0" i="0" dirty="0">
                    <a:solidFill>
                      <a:srgbClr val="1A1A1A"/>
                    </a:solidFill>
                  </a:rPr>
                  <a:t> </a:t>
                </a:r>
                <a:r>
                  <a:rPr lang="it-IT" sz="1600" b="0" i="0" dirty="0" err="1">
                    <a:solidFill>
                      <a:srgbClr val="1A1A1A"/>
                    </a:solidFill>
                  </a:rPr>
                  <a:t>minimizzando</a:t>
                </a:r>
                <a:r>
                  <a:rPr lang="it-IT" sz="1600" b="0" i="0" dirty="0">
                    <a:solidFill>
                      <a:srgbClr val="1A1A1A"/>
                    </a:solidFill>
                  </a:rPr>
                  <a:t> la cross-entropy </a:t>
                </a:r>
                <a:r>
                  <a:rPr lang="it-IT" sz="1600" b="0" i="0" dirty="0" err="1">
                    <a:solidFill>
                      <a:srgbClr val="1A1A1A"/>
                    </a:solidFill>
                  </a:rPr>
                  <a:t>sul</a:t>
                </a:r>
                <a:r>
                  <a:rPr lang="it-IT" sz="1600" b="0" i="0" dirty="0">
                    <a:solidFill>
                      <a:srgbClr val="1A1A1A"/>
                    </a:solidFill>
                  </a:rPr>
                  <a:t> validation set  →  T* = 0.1549</a:t>
                </a:r>
                <a:endParaRPr sz="1600" b="0" i="0" dirty="0">
                  <a:solidFill>
                    <a:srgbClr val="1A1A1A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96" y="2308911"/>
                <a:ext cx="10908792" cy="1781193"/>
              </a:xfrm>
              <a:prstGeom prst="rect">
                <a:avLst/>
              </a:prstGeom>
              <a:blipFill>
                <a:blip r:embed="rId3"/>
                <a:stretch>
                  <a:fillRect l="-335" b="-37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6"/>
          <p:cNvSpPr txBox="1"/>
          <p:nvPr/>
        </p:nvSpPr>
        <p:spPr>
          <a:xfrm>
            <a:off x="731520" y="4171414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F4E79"/>
                </a:solidFill>
              </a:rPr>
              <a:t>Threshold </a:t>
            </a:r>
            <a:r>
              <a:rPr sz="1600" b="1" i="0" dirty="0" err="1">
                <a:solidFill>
                  <a:srgbClr val="1F4E79"/>
                </a:solidFill>
              </a:rPr>
              <a:t>adattivo</a:t>
            </a:r>
            <a:r>
              <a:rPr sz="1600" b="1" i="0" dirty="0">
                <a:solidFill>
                  <a:srgbClr val="1F4E79"/>
                </a:solidFill>
              </a:rPr>
              <a:t> per </a:t>
            </a:r>
            <a:r>
              <a:rPr sz="1600" b="1" i="0" dirty="0" err="1">
                <a:solidFill>
                  <a:srgbClr val="1F4E79"/>
                </a:solidFill>
              </a:rPr>
              <a:t>classe</a:t>
            </a:r>
            <a:endParaRPr sz="1600" b="1" i="0" dirty="0">
              <a:solidFill>
                <a:srgbClr val="1F4E7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7"/>
              <p:cNvSpPr txBox="1"/>
              <p:nvPr/>
            </p:nvSpPr>
            <p:spPr>
              <a:xfrm>
                <a:off x="731520" y="4387081"/>
                <a:ext cx="10908792" cy="34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sz="16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ₖ = 0.5 + (0.5 · </m:t>
                      </m:r>
                      <m:r>
                        <a:rPr lang="it-IT" sz="16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it-IT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it-IT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𝑛𝑜𝑟𝑚</m:t>
                          </m:r>
                          <m:r>
                            <a:rPr lang="en-US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sz="16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+ 0.5 · </m:t>
                      </m:r>
                      <m:sSub>
                        <m:sSubPr>
                          <m:ctrlPr>
                            <a:rPr lang="it-IT" sz="1600" b="0" i="1" dirty="0" err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dirty="0" err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1600" b="0" i="1" dirty="0" err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𝑛𝑜𝑟𝑚</m:t>
                          </m:r>
                          <m:r>
                            <a:rPr lang="en-US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sz="1600" b="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) × 1.5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387081"/>
                <a:ext cx="10908792" cy="349326"/>
              </a:xfrm>
              <a:prstGeom prst="rect">
                <a:avLst/>
              </a:prstGeom>
              <a:blipFill>
                <a:blip r:embed="rId4"/>
                <a:stretch>
                  <a:fillRect t="-7018" b="-175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8"/>
          <p:cNvSpPr txBox="1"/>
          <p:nvPr/>
        </p:nvSpPr>
        <p:spPr>
          <a:xfrm>
            <a:off x="731520" y="4679538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55555"/>
                </a:solidFill>
              </a:rPr>
              <a:t>Classi con F1 </a:t>
            </a:r>
            <a:r>
              <a:rPr sz="1600" b="0" i="1" dirty="0" err="1">
                <a:solidFill>
                  <a:srgbClr val="555555"/>
                </a:solidFill>
              </a:rPr>
              <a:t>più</a:t>
            </a:r>
            <a:r>
              <a:rPr sz="1600" b="0" i="1" dirty="0">
                <a:solidFill>
                  <a:srgbClr val="555555"/>
                </a:solidFill>
              </a:rPr>
              <a:t> alto e </a:t>
            </a:r>
            <a:r>
              <a:rPr sz="1600" b="0" i="1" dirty="0" err="1">
                <a:solidFill>
                  <a:srgbClr val="555555"/>
                </a:solidFill>
              </a:rPr>
              <a:t>maggior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supporto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ricevono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una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soglia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più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alta</a:t>
            </a:r>
            <a:r>
              <a:rPr sz="1600" b="0" i="1" dirty="0">
                <a:solidFill>
                  <a:srgbClr val="555555"/>
                </a:solidFill>
              </a:rPr>
              <a:t> → il </a:t>
            </a:r>
            <a:r>
              <a:rPr sz="1600" b="0" i="1" dirty="0" err="1">
                <a:solidFill>
                  <a:srgbClr val="555555"/>
                </a:solidFill>
              </a:rPr>
              <a:t>modello</a:t>
            </a:r>
            <a:r>
              <a:rPr sz="1600" b="0" i="1" dirty="0">
                <a:solidFill>
                  <a:srgbClr val="555555"/>
                </a:solidFill>
              </a:rPr>
              <a:t> è </a:t>
            </a:r>
            <a:r>
              <a:rPr sz="1600" b="0" i="1" dirty="0" err="1">
                <a:solidFill>
                  <a:srgbClr val="555555"/>
                </a:solidFill>
              </a:rPr>
              <a:t>più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conservativo</a:t>
            </a:r>
            <a:r>
              <a:rPr sz="1600" b="0" i="1" dirty="0">
                <a:solidFill>
                  <a:srgbClr val="555555"/>
                </a:solidFill>
              </a:rPr>
              <a:t> dove è </a:t>
            </a:r>
            <a:r>
              <a:rPr sz="1600" b="0" i="1" dirty="0" err="1">
                <a:solidFill>
                  <a:srgbClr val="555555"/>
                </a:solidFill>
              </a:rPr>
              <a:t>più</a:t>
            </a:r>
            <a:r>
              <a:rPr sz="1600" b="0" i="1" dirty="0">
                <a:solidFill>
                  <a:srgbClr val="555555"/>
                </a:solidFill>
              </a:rPr>
              <a:t> </a:t>
            </a:r>
            <a:r>
              <a:rPr sz="1600" b="0" i="1" dirty="0" err="1">
                <a:solidFill>
                  <a:srgbClr val="555555"/>
                </a:solidFill>
              </a:rPr>
              <a:t>affidabile</a:t>
            </a:r>
            <a:r>
              <a:rPr sz="1600" b="0" i="1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5" name="TextBox 9"/>
          <p:cNvSpPr txBox="1"/>
          <p:nvPr/>
        </p:nvSpPr>
        <p:spPr>
          <a:xfrm>
            <a:off x="731520" y="5012064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F4E79"/>
                </a:solidFill>
              </a:rPr>
              <a:t>Deployment client-side (JavaScript)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731520" y="5295900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• Parametri esportati in model_data.json (364 KB): vocabolario, pesi IDF, coefficienti LinearSVC, T*, soglie</a:t>
            </a:r>
          </a:p>
          <a:p>
            <a:pPr algn="l"/>
            <a:r>
              <a:rPr sz="1600">
                <a:solidFill>
                  <a:srgbClr val="1A1A1A"/>
                </a:solidFill>
              </a:rPr>
              <a:t>• Pipeline replicata in JavaScript vanilla — nessun server backend, nessuna dipendenza esterna</a:t>
            </a:r>
          </a:p>
          <a:p>
            <a:pPr algn="l"/>
            <a:r>
              <a:rPr sz="1600">
                <a:solidFill>
                  <a:srgbClr val="1A1A1A"/>
                </a:solidFill>
              </a:rPr>
              <a:t>• Deploy su GitHub Pages: completamente gratuito e statico</a:t>
            </a:r>
          </a:p>
        </p:txBody>
      </p:sp>
    </p:spTree>
    <p:extLst>
      <p:ext uri="{BB962C8B-B14F-4D97-AF65-F5344CB8AC3E}">
        <p14:creationId xmlns:p14="http://schemas.microsoft.com/office/powerpoint/2010/main" val="53665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0734-A581-E1FC-79AB-C3E1CB6D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91FD3E16-6E14-818E-88B7-2E3625AD8F55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B8A365E-6633-5BD1-08B5-CA618149C963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B2207682-C499-B33D-D92C-0F91E832C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DB825E3-58FF-0ECD-0420-9AEE62BADD04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3F96A81-41C2-1252-9865-204C0C187E81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E16103-A0AA-13A0-2A65-D56D6540478C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AF41C4B-58EF-9CF1-B966-15134F0D126A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0472" y="1340904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F4E79"/>
                </a:solidFill>
              </a:rPr>
              <a:t>Risultati</a:t>
            </a:r>
            <a:r>
              <a:rPr sz="2800" b="1" i="0" dirty="0">
                <a:solidFill>
                  <a:srgbClr val="1F4E79"/>
                </a:solidFill>
              </a:rPr>
              <a:t> </a:t>
            </a:r>
            <a:r>
              <a:rPr sz="2800" b="1" i="0" dirty="0" err="1">
                <a:solidFill>
                  <a:srgbClr val="1F4E79"/>
                </a:solidFill>
              </a:rPr>
              <a:t>sperimentali</a:t>
            </a:r>
            <a:endParaRPr sz="2800" b="1" i="0" dirty="0">
              <a:solidFill>
                <a:srgbClr val="1F4E7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" y="1896346"/>
            <a:ext cx="4691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Accuracy </a:t>
            </a:r>
            <a:r>
              <a:rPr sz="1400" b="1" i="0" dirty="0" err="1"/>
              <a:t>globale</a:t>
            </a:r>
            <a:r>
              <a:rPr sz="1400" b="1" i="0" dirty="0"/>
              <a:t>: 97.93%  —  724 </a:t>
            </a:r>
            <a:r>
              <a:rPr sz="1400" b="1" i="0" dirty="0" err="1"/>
              <a:t>articoli</a:t>
            </a:r>
            <a:r>
              <a:rPr sz="1400" b="1" i="0" dirty="0"/>
              <a:t> di test, 15 </a:t>
            </a:r>
            <a:r>
              <a:rPr sz="1400" b="1" i="0" dirty="0" err="1"/>
              <a:t>errori</a:t>
            </a:r>
            <a:endParaRPr sz="1400" b="1" i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690645"/>
              </p:ext>
            </p:extLst>
          </p:nvPr>
        </p:nvGraphicFramePr>
        <p:xfrm>
          <a:off x="220472" y="2575344"/>
          <a:ext cx="469116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Baseball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Basketball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Golf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Rugby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Soccer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Tennis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1A"/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 descr="precision_recall_f1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934" y="1896346"/>
            <a:ext cx="7142891" cy="353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6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98DA-FBD2-8FB4-0FDF-E361137D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AA819C4A-E220-51A0-4A27-70B2107FD9B4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3CBCB66-58CA-943B-71E3-37B931671B7C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0E590D8E-1098-12D6-73D8-EACC144A0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D0AF72-6503-FB9A-B331-0439F42E8DA8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BDC2A66-5548-3630-039A-0F2C7FBE4C39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7EE86D0-6624-E14C-80CA-A687E54884CB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EF4A562-A06D-F867-FA2C-D0E3B94864BF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matrice_confusi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60" y="2109368"/>
            <a:ext cx="4794069" cy="3761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26562" y="2508199"/>
            <a:ext cx="58174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/>
              <a:t>15 </a:t>
            </a:r>
            <a:r>
              <a:rPr sz="2000" b="0" dirty="0" err="1"/>
              <a:t>errori</a:t>
            </a:r>
            <a:r>
              <a:rPr sz="2000" b="0" dirty="0"/>
              <a:t> </a:t>
            </a:r>
            <a:r>
              <a:rPr sz="2000" b="0" dirty="0" err="1"/>
              <a:t>su</a:t>
            </a:r>
            <a:r>
              <a:rPr sz="2000" b="0" dirty="0"/>
              <a:t> 724 </a:t>
            </a:r>
            <a:r>
              <a:rPr sz="2000" b="0" dirty="0" err="1"/>
              <a:t>campioni</a:t>
            </a:r>
            <a:r>
              <a:rPr sz="2000" b="0" dirty="0"/>
              <a:t>. </a:t>
            </a:r>
            <a:endParaRPr lang="en-US" sz="2000" b="0" dirty="0"/>
          </a:p>
          <a:p>
            <a:pPr algn="l"/>
            <a:r>
              <a:rPr sz="2000" b="0" dirty="0"/>
              <a:t>Soccer </a:t>
            </a:r>
            <a:r>
              <a:rPr lang="en-US" sz="2000" b="0" dirty="0"/>
              <a:t>e basket </a:t>
            </a:r>
            <a:r>
              <a:rPr lang="en-US" sz="2000" b="0" dirty="0" err="1"/>
              <a:t>presentano</a:t>
            </a:r>
            <a:r>
              <a:rPr lang="en-US" sz="2000" b="0" dirty="0"/>
              <a:t> la </a:t>
            </a:r>
            <a:r>
              <a:rPr lang="en-US" sz="2000" b="0" dirty="0" err="1"/>
              <a:t>maggiore</a:t>
            </a:r>
            <a:r>
              <a:rPr lang="en-US" sz="2000" b="0" dirty="0"/>
              <a:t> </a:t>
            </a:r>
            <a:r>
              <a:rPr lang="en-US" sz="2000" b="0" dirty="0" err="1"/>
              <a:t>percentuale</a:t>
            </a:r>
            <a:r>
              <a:rPr lang="en-US" sz="2000" b="0" dirty="0"/>
              <a:t> di </a:t>
            </a:r>
            <a:r>
              <a:rPr lang="en-US" sz="2000" b="0" dirty="0" err="1"/>
              <a:t>errori</a:t>
            </a:r>
            <a:r>
              <a:rPr lang="en-US" sz="2000" b="0" dirty="0"/>
              <a:t> con ben 2 </a:t>
            </a:r>
            <a:r>
              <a:rPr lang="en-US" sz="2000" b="0" dirty="0" err="1"/>
              <a:t>errori</a:t>
            </a:r>
            <a:r>
              <a:rPr lang="en-US" sz="2000" b="0" dirty="0"/>
              <a:t> di confusion </a:t>
            </a:r>
            <a:r>
              <a:rPr lang="en-US" sz="2000" b="0" dirty="0" err="1"/>
              <a:t>tra</a:t>
            </a:r>
            <a:r>
              <a:rPr lang="en-US" sz="2000" b="0" dirty="0"/>
              <a:t> calcio e baseball e 2 </a:t>
            </a:r>
            <a:r>
              <a:rPr lang="en-US" sz="2000" b="0" dirty="0" err="1"/>
              <a:t>errori</a:t>
            </a:r>
            <a:r>
              <a:rPr lang="en-US" sz="2000" b="0" dirty="0"/>
              <a:t> </a:t>
            </a:r>
            <a:r>
              <a:rPr lang="en-US" sz="2000" b="0" dirty="0" err="1"/>
              <a:t>tra</a:t>
            </a:r>
            <a:r>
              <a:rPr lang="en-US" sz="2000" b="0" dirty="0"/>
              <a:t> calcio e basket</a:t>
            </a:r>
            <a:endParaRPr sz="20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405356" y="13049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F4E79"/>
                </a:solidFill>
              </a:rPr>
              <a:t>Analisi</a:t>
            </a:r>
            <a:r>
              <a:rPr sz="2800" b="1" i="0" dirty="0">
                <a:solidFill>
                  <a:srgbClr val="1F4E79"/>
                </a:solidFill>
              </a:rPr>
              <a:t> degli </a:t>
            </a:r>
            <a:r>
              <a:rPr sz="2800" b="1" i="0" dirty="0" err="1">
                <a:solidFill>
                  <a:srgbClr val="1F4E79"/>
                </a:solidFill>
              </a:rPr>
              <a:t>errori</a:t>
            </a:r>
            <a:r>
              <a:rPr sz="2800" b="1" i="0" dirty="0">
                <a:solidFill>
                  <a:srgbClr val="1F4E79"/>
                </a:solidFill>
              </a:rPr>
              <a:t> — Matrice di </a:t>
            </a:r>
            <a:r>
              <a:rPr sz="2800" b="1" i="0" dirty="0" err="1">
                <a:solidFill>
                  <a:srgbClr val="1F4E79"/>
                </a:solidFill>
              </a:rPr>
              <a:t>confusione</a:t>
            </a:r>
            <a:endParaRPr sz="2800" b="1" i="0" dirty="0">
              <a:solidFill>
                <a:srgbClr val="1F4E7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76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E957-EE73-9654-2117-C7FF6166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0C455AB7-3FFE-B281-23CD-32451E2829DA}"/>
              </a:ext>
            </a:extLst>
          </p:cNvPr>
          <p:cNvSpPr/>
          <p:nvPr/>
        </p:nvSpPr>
        <p:spPr>
          <a:xfrm>
            <a:off x="0" y="6211669"/>
            <a:ext cx="12188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16A2117-6624-1CF0-FF0B-A32B19EAC6F9}"/>
              </a:ext>
            </a:extLst>
          </p:cNvPr>
          <p:cNvSpPr/>
          <p:nvPr/>
        </p:nvSpPr>
        <p:spPr>
          <a:xfrm>
            <a:off x="0" y="0"/>
            <a:ext cx="12188825" cy="10715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 descr="Uninettuno University - Atheneum Liberal Studies Master of Science in  Health Management">
            <a:extLst>
              <a:ext uri="{FF2B5EF4-FFF2-40B4-BE49-F238E27FC236}">
                <a16:creationId xmlns:a16="http://schemas.microsoft.com/office/drawing/2014/main" id="{6A7D4E53-E463-4D74-A65E-19765DDC7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-170498"/>
            <a:ext cx="3196387" cy="15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94549F-A1FE-4E8B-68F5-ACF1C0702979}"/>
              </a:ext>
            </a:extLst>
          </p:cNvPr>
          <p:cNvSpPr txBox="1"/>
          <p:nvPr/>
        </p:nvSpPr>
        <p:spPr>
          <a:xfrm>
            <a:off x="6779789" y="277174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Facoltà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 di Laurea Magistrale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Ingegneria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99A916-92A0-A994-55ED-89BE129AC9EB}"/>
              </a:ext>
            </a:extLst>
          </p:cNvPr>
          <p:cNvSpPr txBox="1"/>
          <p:nvPr/>
        </p:nvSpPr>
        <p:spPr>
          <a:xfrm>
            <a:off x="3821963" y="6211669"/>
            <a:ext cx="4544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A.A. 2025/2026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484D039-1EA3-6A36-EBD4-18F576EEA331}"/>
              </a:ext>
            </a:extLst>
          </p:cNvPr>
          <p:cNvSpPr txBox="1"/>
          <p:nvPr/>
        </p:nvSpPr>
        <p:spPr>
          <a:xfrm>
            <a:off x="405356" y="6350168"/>
            <a:ext cx="29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Emanuel Weitschek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F3F1AF2-4BCC-6006-68BC-675EBC88AC59}"/>
              </a:ext>
            </a:extLst>
          </p:cNvPr>
          <p:cNvSpPr txBox="1"/>
          <p:nvPr/>
        </p:nvSpPr>
        <p:spPr>
          <a:xfrm>
            <a:off x="8877095" y="6211669"/>
            <a:ext cx="3153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Cristian Maieli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898HHHINGINFOR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7764" y="1424599"/>
            <a:ext cx="10908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F4E79"/>
                </a:solidFill>
              </a:rPr>
              <a:t>Conclusioni</a:t>
            </a:r>
            <a:r>
              <a:rPr sz="3600" b="1" i="0" dirty="0">
                <a:solidFill>
                  <a:srgbClr val="1F4E79"/>
                </a:solidFill>
              </a:rPr>
              <a:t> e </a:t>
            </a:r>
            <a:r>
              <a:rPr sz="3600" b="1" i="0" dirty="0" err="1">
                <a:solidFill>
                  <a:srgbClr val="1F4E79"/>
                </a:solidFill>
              </a:rPr>
              <a:t>sviluppi</a:t>
            </a:r>
            <a:r>
              <a:rPr sz="3600" b="1" i="0" dirty="0">
                <a:solidFill>
                  <a:srgbClr val="1F4E79"/>
                </a:solidFill>
              </a:rPr>
              <a:t> </a:t>
            </a:r>
            <a:r>
              <a:rPr sz="3600" b="1" i="0" dirty="0" err="1">
                <a:solidFill>
                  <a:srgbClr val="1F4E79"/>
                </a:solidFill>
              </a:rPr>
              <a:t>futuri</a:t>
            </a:r>
            <a:endParaRPr sz="3600" b="1" i="0" dirty="0">
              <a:solidFill>
                <a:srgbClr val="1F4E7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53999"/>
            <a:ext cx="10908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F4E79"/>
                </a:solidFill>
              </a:rPr>
              <a:t>Risultati</a:t>
            </a:r>
            <a:endParaRPr sz="2000" b="1" i="0" dirty="0">
              <a:solidFill>
                <a:srgbClr val="1F4E7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5945" y="2717807"/>
            <a:ext cx="530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A1A1A"/>
                </a:solidFill>
              </a:rPr>
              <a:t>• Accuracy 97.93% </a:t>
            </a:r>
            <a:r>
              <a:rPr dirty="0" err="1">
                <a:solidFill>
                  <a:srgbClr val="1A1A1A"/>
                </a:solidFill>
              </a:rPr>
              <a:t>su</a:t>
            </a:r>
            <a:r>
              <a:rPr dirty="0">
                <a:solidFill>
                  <a:srgbClr val="1A1A1A"/>
                </a:solidFill>
              </a:rPr>
              <a:t> 3617 </a:t>
            </a:r>
            <a:r>
              <a:rPr dirty="0" err="1">
                <a:solidFill>
                  <a:srgbClr val="1A1A1A"/>
                </a:solidFill>
              </a:rPr>
              <a:t>articoli</a:t>
            </a:r>
            <a:r>
              <a:rPr dirty="0">
                <a:solidFill>
                  <a:srgbClr val="1A1A1A"/>
                </a:solidFill>
              </a:rPr>
              <a:t>, 7 </a:t>
            </a:r>
            <a:r>
              <a:rPr dirty="0" err="1">
                <a:solidFill>
                  <a:srgbClr val="1A1A1A"/>
                </a:solidFill>
              </a:rPr>
              <a:t>categorie</a:t>
            </a:r>
            <a:endParaRPr dirty="0">
              <a:solidFill>
                <a:srgbClr val="1A1A1A"/>
              </a:solidFill>
            </a:endParaRPr>
          </a:p>
          <a:p>
            <a:pPr algn="l"/>
            <a:r>
              <a:rPr dirty="0">
                <a:solidFill>
                  <a:srgbClr val="1A1A1A"/>
                </a:solidFill>
              </a:rPr>
              <a:t>• TF-IDF + </a:t>
            </a:r>
            <a:r>
              <a:rPr dirty="0" err="1">
                <a:solidFill>
                  <a:srgbClr val="1A1A1A"/>
                </a:solidFill>
              </a:rPr>
              <a:t>LinearSVC</a:t>
            </a:r>
            <a:r>
              <a:rPr dirty="0">
                <a:solidFill>
                  <a:srgbClr val="1A1A1A"/>
                </a:solidFill>
              </a:rPr>
              <a:t>: </a:t>
            </a:r>
            <a:r>
              <a:rPr dirty="0" err="1">
                <a:solidFill>
                  <a:srgbClr val="1A1A1A"/>
                </a:solidFill>
              </a:rPr>
              <a:t>approccio</a:t>
            </a:r>
            <a:r>
              <a:rPr dirty="0">
                <a:solidFill>
                  <a:srgbClr val="1A1A1A"/>
                </a:solidFill>
              </a:rPr>
              <a:t> classico </a:t>
            </a:r>
            <a:r>
              <a:rPr dirty="0" err="1">
                <a:solidFill>
                  <a:srgbClr val="1A1A1A"/>
                </a:solidFill>
              </a:rPr>
              <a:t>competitivo</a:t>
            </a:r>
            <a:r>
              <a:rPr dirty="0">
                <a:solidFill>
                  <a:srgbClr val="1A1A1A"/>
                </a:solidFill>
              </a:rPr>
              <a:t> per </a:t>
            </a:r>
            <a:r>
              <a:rPr dirty="0" err="1">
                <a:solidFill>
                  <a:srgbClr val="1A1A1A"/>
                </a:solidFill>
              </a:rPr>
              <a:t>vocabolario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specializzato</a:t>
            </a:r>
            <a:endParaRPr dirty="0">
              <a:solidFill>
                <a:srgbClr val="1A1A1A"/>
              </a:solidFill>
            </a:endParaRPr>
          </a:p>
          <a:p>
            <a:pPr algn="l"/>
            <a:r>
              <a:rPr dirty="0">
                <a:solidFill>
                  <a:srgbClr val="1A1A1A"/>
                </a:solidFill>
              </a:rPr>
              <a:t>• </a:t>
            </a:r>
            <a:r>
              <a:rPr dirty="0" err="1">
                <a:solidFill>
                  <a:srgbClr val="1A1A1A"/>
                </a:solidFill>
              </a:rPr>
              <a:t>Modello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deployato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interamente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nel</a:t>
            </a:r>
            <a:r>
              <a:rPr dirty="0">
                <a:solidFill>
                  <a:srgbClr val="1A1A1A"/>
                </a:solidFill>
              </a:rPr>
              <a:t> browser (GitHub Pages, zero </a:t>
            </a:r>
            <a:r>
              <a:rPr dirty="0" err="1">
                <a:solidFill>
                  <a:srgbClr val="1A1A1A"/>
                </a:solidFill>
              </a:rPr>
              <a:t>costi</a:t>
            </a:r>
            <a:r>
              <a:rPr dirty="0">
                <a:solidFill>
                  <a:srgbClr val="1A1A1A"/>
                </a:solidFill>
              </a:rPr>
              <a:t>)</a:t>
            </a:r>
          </a:p>
          <a:p>
            <a:pPr algn="l"/>
            <a:r>
              <a:rPr dirty="0">
                <a:solidFill>
                  <a:srgbClr val="1A1A1A"/>
                </a:solidFill>
              </a:rPr>
              <a:t>• Benchmark </a:t>
            </a:r>
            <a:r>
              <a:rPr dirty="0" err="1">
                <a:solidFill>
                  <a:srgbClr val="1A1A1A"/>
                </a:solidFill>
              </a:rPr>
              <a:t>su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max_features</a:t>
            </a:r>
            <a:r>
              <a:rPr dirty="0">
                <a:solidFill>
                  <a:srgbClr val="1A1A1A"/>
                </a:solidFill>
              </a:rPr>
              <a:t> 5000–10000:  5000 è </a:t>
            </a:r>
            <a:r>
              <a:rPr dirty="0" err="1">
                <a:solidFill>
                  <a:srgbClr val="1A1A1A"/>
                </a:solidFill>
              </a:rPr>
              <a:t>già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ottimale</a:t>
            </a:r>
            <a:endParaRPr dirty="0">
              <a:solidFill>
                <a:srgbClr val="1A1A1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797733"/>
            <a:ext cx="10908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F4E79"/>
                </a:solidFill>
              </a:rPr>
              <a:t>Limitazioni</a:t>
            </a:r>
            <a:endParaRPr sz="2000" b="1" i="0" dirty="0">
              <a:solidFill>
                <a:srgbClr val="1F4E79"/>
              </a:solidFill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548640" y="5277087"/>
            <a:ext cx="67534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1A1A1A"/>
                </a:solidFill>
              </a:rPr>
              <a:t>• Label leakage </a:t>
            </a:r>
            <a:r>
              <a:rPr sz="1600" dirty="0" err="1">
                <a:solidFill>
                  <a:srgbClr val="1A1A1A"/>
                </a:solidFill>
              </a:rPr>
              <a:t>implicito</a:t>
            </a:r>
            <a:r>
              <a:rPr sz="1600" dirty="0">
                <a:solidFill>
                  <a:srgbClr val="1A1A1A"/>
                </a:solidFill>
              </a:rPr>
              <a:t>: la keyword </a:t>
            </a:r>
            <a:r>
              <a:rPr sz="1600" dirty="0" err="1">
                <a:solidFill>
                  <a:srgbClr val="1A1A1A"/>
                </a:solidFill>
              </a:rPr>
              <a:t>sportiva</a:t>
            </a:r>
            <a:r>
              <a:rPr sz="1600" dirty="0">
                <a:solidFill>
                  <a:srgbClr val="1A1A1A"/>
                </a:solidFill>
              </a:rPr>
              <a:t> compare </a:t>
            </a:r>
            <a:r>
              <a:rPr sz="1600" dirty="0" err="1">
                <a:solidFill>
                  <a:srgbClr val="1A1A1A"/>
                </a:solidFill>
              </a:rPr>
              <a:t>nel</a:t>
            </a:r>
            <a:r>
              <a:rPr sz="1600" dirty="0">
                <a:solidFill>
                  <a:srgbClr val="1A1A1A"/>
                </a:solidFill>
              </a:rPr>
              <a:t> testo degli </a:t>
            </a:r>
            <a:r>
              <a:rPr sz="1600" dirty="0" err="1">
                <a:solidFill>
                  <a:srgbClr val="1A1A1A"/>
                </a:solidFill>
              </a:rPr>
              <a:t>articoli</a:t>
            </a:r>
            <a:endParaRPr sz="1600" dirty="0">
              <a:solidFill>
                <a:srgbClr val="1A1A1A"/>
              </a:solidFill>
            </a:endParaRPr>
          </a:p>
          <a:p>
            <a:pPr algn="l"/>
            <a:r>
              <a:rPr sz="1600" dirty="0">
                <a:solidFill>
                  <a:srgbClr val="1A1A1A"/>
                </a:solidFill>
              </a:rPr>
              <a:t>• Content </a:t>
            </a:r>
            <a:r>
              <a:rPr sz="1600" dirty="0" err="1">
                <a:solidFill>
                  <a:srgbClr val="1A1A1A"/>
                </a:solidFill>
              </a:rPr>
              <a:t>troncato</a:t>
            </a:r>
            <a:r>
              <a:rPr sz="1600" dirty="0">
                <a:solidFill>
                  <a:srgbClr val="1A1A1A"/>
                </a:solidFill>
              </a:rPr>
              <a:t> a ~253 </a:t>
            </a:r>
            <a:r>
              <a:rPr sz="1600" dirty="0" err="1">
                <a:solidFill>
                  <a:srgbClr val="1A1A1A"/>
                </a:solidFill>
              </a:rPr>
              <a:t>caratteri</a:t>
            </a:r>
            <a:r>
              <a:rPr sz="1600" dirty="0">
                <a:solidFill>
                  <a:srgbClr val="1A1A1A"/>
                </a:solidFill>
              </a:rPr>
              <a:t> dal piano </a:t>
            </a:r>
            <a:r>
              <a:rPr sz="1600" dirty="0" err="1">
                <a:solidFill>
                  <a:srgbClr val="1A1A1A"/>
                </a:solidFill>
              </a:rPr>
              <a:t>gratuito</a:t>
            </a:r>
            <a:r>
              <a:rPr sz="1600" dirty="0">
                <a:solidFill>
                  <a:srgbClr val="1A1A1A"/>
                </a:solidFill>
              </a:rPr>
              <a:t> </a:t>
            </a:r>
            <a:r>
              <a:rPr sz="1600" dirty="0" err="1">
                <a:solidFill>
                  <a:srgbClr val="1A1A1A"/>
                </a:solidFill>
              </a:rPr>
              <a:t>GNews</a:t>
            </a:r>
            <a:endParaRPr sz="1600" dirty="0">
              <a:solidFill>
                <a:srgbClr val="1A1A1A"/>
              </a:solidFill>
            </a:endParaRPr>
          </a:p>
          <a:p>
            <a:pPr algn="l"/>
            <a:r>
              <a:rPr sz="1600" dirty="0">
                <a:solidFill>
                  <a:srgbClr val="1A1A1A"/>
                </a:solidFill>
              </a:rPr>
              <a:t>• Solo 7 sport, solo inglese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6309360" y="2253999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F4E79"/>
                </a:solidFill>
              </a:rPr>
              <a:t>Sviluppi </a:t>
            </a:r>
            <a:r>
              <a:rPr sz="2000" b="1" i="0" dirty="0" err="1">
                <a:solidFill>
                  <a:srgbClr val="1F4E79"/>
                </a:solidFill>
              </a:rPr>
              <a:t>futuri</a:t>
            </a:r>
            <a:endParaRPr sz="2000" b="1" i="0" dirty="0">
              <a:solidFill>
                <a:srgbClr val="1F4E79"/>
              </a:solidFill>
            </a:endParaRPr>
          </a:p>
        </p:txBody>
      </p:sp>
      <p:sp>
        <p:nvSpPr>
          <p:cNvPr id="14" name="TextBox 8"/>
          <p:cNvSpPr txBox="1"/>
          <p:nvPr/>
        </p:nvSpPr>
        <p:spPr>
          <a:xfrm>
            <a:off x="6309360" y="2735905"/>
            <a:ext cx="5394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A1A1A"/>
                </a:solidFill>
              </a:rPr>
              <a:t>• BERT/</a:t>
            </a:r>
            <a:r>
              <a:rPr dirty="0" err="1">
                <a:solidFill>
                  <a:srgbClr val="1A1A1A"/>
                </a:solidFill>
              </a:rPr>
              <a:t>RoBERTa</a:t>
            </a:r>
            <a:r>
              <a:rPr dirty="0">
                <a:solidFill>
                  <a:srgbClr val="1A1A1A"/>
                </a:solidFill>
              </a:rPr>
              <a:t> fine-tuning per </a:t>
            </a:r>
            <a:r>
              <a:rPr dirty="0" err="1">
                <a:solidFill>
                  <a:srgbClr val="1A1A1A"/>
                </a:solidFill>
              </a:rPr>
              <a:t>testi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semanticamente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ambigui</a:t>
            </a:r>
            <a:endParaRPr dirty="0">
              <a:solidFill>
                <a:srgbClr val="1A1A1A"/>
              </a:solidFill>
            </a:endParaRPr>
          </a:p>
          <a:p>
            <a:pPr algn="l"/>
            <a:r>
              <a:rPr dirty="0">
                <a:solidFill>
                  <a:srgbClr val="1A1A1A"/>
                </a:solidFill>
              </a:rPr>
              <a:t>• </a:t>
            </a:r>
            <a:r>
              <a:rPr dirty="0" err="1">
                <a:solidFill>
                  <a:srgbClr val="1A1A1A"/>
                </a:solidFill>
              </a:rPr>
              <a:t>Espansione</a:t>
            </a:r>
            <a:r>
              <a:rPr dirty="0">
                <a:solidFill>
                  <a:srgbClr val="1A1A1A"/>
                </a:solidFill>
              </a:rPr>
              <a:t> a </a:t>
            </a:r>
            <a:r>
              <a:rPr dirty="0" err="1">
                <a:solidFill>
                  <a:srgbClr val="1A1A1A"/>
                </a:solidFill>
              </a:rPr>
              <a:t>più</a:t>
            </a:r>
            <a:r>
              <a:rPr dirty="0">
                <a:solidFill>
                  <a:srgbClr val="1A1A1A"/>
                </a:solidFill>
              </a:rPr>
              <a:t> sport e </a:t>
            </a:r>
            <a:r>
              <a:rPr dirty="0" err="1">
                <a:solidFill>
                  <a:srgbClr val="1A1A1A"/>
                </a:solidFill>
              </a:rPr>
              <a:t>più</a:t>
            </a:r>
            <a:r>
              <a:rPr dirty="0">
                <a:solidFill>
                  <a:srgbClr val="1A1A1A"/>
                </a:solidFill>
              </a:rPr>
              <a:t> lingue</a:t>
            </a:r>
          </a:p>
          <a:p>
            <a:pPr algn="l"/>
            <a:r>
              <a:rPr dirty="0">
                <a:solidFill>
                  <a:srgbClr val="1A1A1A"/>
                </a:solidFill>
              </a:rPr>
              <a:t>• </a:t>
            </a:r>
            <a:r>
              <a:rPr dirty="0" err="1">
                <a:solidFill>
                  <a:srgbClr val="1A1A1A"/>
                </a:solidFill>
              </a:rPr>
              <a:t>Rimozione</a:t>
            </a:r>
            <a:r>
              <a:rPr dirty="0">
                <a:solidFill>
                  <a:srgbClr val="1A1A1A"/>
                </a:solidFill>
              </a:rPr>
              <a:t> del leakage: </a:t>
            </a:r>
            <a:r>
              <a:rPr dirty="0" err="1">
                <a:solidFill>
                  <a:srgbClr val="1A1A1A"/>
                </a:solidFill>
              </a:rPr>
              <a:t>filtraggio</a:t>
            </a:r>
            <a:r>
              <a:rPr dirty="0">
                <a:solidFill>
                  <a:srgbClr val="1A1A1A"/>
                </a:solidFill>
              </a:rPr>
              <a:t> keyword pre-</a:t>
            </a:r>
            <a:r>
              <a:rPr dirty="0" err="1">
                <a:solidFill>
                  <a:srgbClr val="1A1A1A"/>
                </a:solidFill>
              </a:rPr>
              <a:t>classificazione</a:t>
            </a:r>
            <a:endParaRPr dirty="0">
              <a:solidFill>
                <a:srgbClr val="1A1A1A"/>
              </a:solidFill>
            </a:endParaRPr>
          </a:p>
          <a:p>
            <a:pPr algn="l"/>
            <a:r>
              <a:rPr dirty="0">
                <a:solidFill>
                  <a:srgbClr val="1A1A1A"/>
                </a:solidFill>
              </a:rPr>
              <a:t>• API REST live per </a:t>
            </a:r>
            <a:r>
              <a:rPr dirty="0" err="1">
                <a:solidFill>
                  <a:srgbClr val="1A1A1A"/>
                </a:solidFill>
              </a:rPr>
              <a:t>classificazione</a:t>
            </a:r>
            <a:r>
              <a:rPr dirty="0">
                <a:solidFill>
                  <a:srgbClr val="1A1A1A"/>
                </a:solidFill>
              </a:rPr>
              <a:t> in tempo </a:t>
            </a:r>
            <a:r>
              <a:rPr dirty="0" err="1">
                <a:solidFill>
                  <a:srgbClr val="1A1A1A"/>
                </a:solidFill>
              </a:rPr>
              <a:t>reale</a:t>
            </a:r>
            <a:endParaRPr dirty="0">
              <a:solidFill>
                <a:srgbClr val="1A1A1A"/>
              </a:solidFill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8697251" y="5467379"/>
            <a:ext cx="3182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1F4E79"/>
                </a:solidFill>
              </a:rPr>
              <a:t>Demo live: </a:t>
            </a:r>
            <a:r>
              <a:rPr lang="it-IT" sz="1200" b="0" i="0" dirty="0">
                <a:solidFill>
                  <a:srgbClr val="1F4E79"/>
                </a:solidFill>
                <a:hlinkClick r:id="rId3"/>
              </a:rPr>
              <a:t>https://chrisshow.github.io/SportNewsAI</a:t>
            </a:r>
            <a:endParaRPr lang="en-US" sz="1200" dirty="0">
              <a:solidFill>
                <a:srgbClr val="1F4E79"/>
              </a:solidFill>
            </a:endParaRPr>
          </a:p>
          <a:p>
            <a:pPr algn="r"/>
            <a:r>
              <a:rPr sz="1200" b="0" i="0" dirty="0" err="1">
                <a:solidFill>
                  <a:srgbClr val="1F4E79"/>
                </a:solidFill>
              </a:rPr>
              <a:t>Codice</a:t>
            </a:r>
            <a:r>
              <a:rPr sz="1200" b="0" i="0" dirty="0">
                <a:solidFill>
                  <a:srgbClr val="1F4E79"/>
                </a:solidFill>
              </a:rPr>
              <a:t>: github.com/</a:t>
            </a:r>
            <a:r>
              <a:rPr sz="1200" b="0" i="0" dirty="0" err="1">
                <a:solidFill>
                  <a:srgbClr val="1F4E79"/>
                </a:solidFill>
              </a:rPr>
              <a:t>ChrisShow</a:t>
            </a:r>
            <a:r>
              <a:rPr sz="1200" b="0" i="0" dirty="0">
                <a:solidFill>
                  <a:srgbClr val="1F4E79"/>
                </a:solidFill>
              </a:rPr>
              <a:t>/</a:t>
            </a:r>
            <a:r>
              <a:rPr sz="1200" b="0" i="0" dirty="0" err="1">
                <a:solidFill>
                  <a:srgbClr val="1F4E79"/>
                </a:solidFill>
              </a:rPr>
              <a:t>SportNewsAI</a:t>
            </a:r>
            <a:endParaRPr sz="1200" b="0" i="0" dirty="0">
              <a:solidFill>
                <a:srgbClr val="1F4E7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248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640080" y="960120"/>
            <a:ext cx="10908792" cy="0"/>
          </a:xfrm>
          <a:prstGeom prst="line">
            <a:avLst/>
          </a:prstGeom>
          <a:ln w="1524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4526280"/>
            <a:ext cx="10908792" cy="0"/>
          </a:xfrm>
          <a:prstGeom prst="line">
            <a:avLst/>
          </a:prstGeom>
          <a:ln w="1524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1157</Words>
  <Application>Microsoft Office PowerPoint</Application>
  <PresentationFormat>Personalizzato</PresentationFormat>
  <Paragraphs>199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Cristian Maieli</cp:lastModifiedBy>
  <cp:revision>11</cp:revision>
  <dcterms:created xsi:type="dcterms:W3CDTF">2013-01-27T09:14:16Z</dcterms:created>
  <dcterms:modified xsi:type="dcterms:W3CDTF">2026-04-25T09:14:16Z</dcterms:modified>
  <cp:category/>
</cp:coreProperties>
</file>